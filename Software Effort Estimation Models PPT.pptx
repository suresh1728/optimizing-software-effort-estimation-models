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399" r:id="rId4"/>
    <p:sldId id="400" r:id="rId5"/>
    <p:sldId id="258" r:id="rId6"/>
    <p:sldId id="259" r:id="rId7"/>
    <p:sldId id="375" r:id="rId8"/>
    <p:sldId id="376" r:id="rId9"/>
    <p:sldId id="396" r:id="rId10"/>
    <p:sldId id="392" r:id="rId11"/>
    <p:sldId id="268" r:id="rId12"/>
    <p:sldId id="430" r:id="rId13"/>
    <p:sldId id="429" r:id="rId14"/>
    <p:sldId id="407" r:id="rId15"/>
    <p:sldId id="431" r:id="rId16"/>
    <p:sldId id="387" r:id="rId17"/>
    <p:sldId id="383" r:id="rId18"/>
    <p:sldId id="290" r:id="rId19"/>
    <p:sldId id="283"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 name="PlaceHolder 1"/>
          <p:cNvSpPr>
            <a:spLocks noGrp="1"/>
          </p:cNvSpPr>
          <p:nvPr>
            <p:ph type="body"/>
          </p:nvPr>
        </p:nvSpPr>
        <p:spPr>
          <a:xfrm>
            <a:off x="756000" y="5078520"/>
            <a:ext cx="6047640" cy="4811040"/>
          </a:xfrm>
          <a:prstGeom prst="rect">
            <a:avLst/>
          </a:prstGeom>
        </p:spPr>
        <p:txBody>
          <a:bodyPr wrap="none" lIns="0" tIns="0" rIns="0" bIns="0"/>
          <a:lstStyle/>
          <a:p>
            <a:r>
              <a:rPr lang="en-IN"/>
              <a:t>Click to edit the notes format</a:t>
            </a:r>
            <a:endParaRPr/>
          </a:p>
        </p:txBody>
      </p:sp>
      <p:sp>
        <p:nvSpPr>
          <p:cNvPr id="35" name="PlaceHolder 2"/>
          <p:cNvSpPr>
            <a:spLocks noGrp="1"/>
          </p:cNvSpPr>
          <p:nvPr>
            <p:ph type="hdr"/>
          </p:nvPr>
        </p:nvSpPr>
        <p:spPr>
          <a:xfrm>
            <a:off x="0" y="0"/>
            <a:ext cx="3280320" cy="534240"/>
          </a:xfrm>
          <a:prstGeom prst="rect">
            <a:avLst/>
          </a:prstGeom>
        </p:spPr>
        <p:txBody>
          <a:bodyPr wrap="none" lIns="0" tIns="0" rIns="0" bIns="0"/>
          <a:lstStyle/>
          <a:p>
            <a:r>
              <a:rPr lang="en-IN"/>
              <a:t>&lt;header&gt;</a:t>
            </a:r>
            <a:endParaRPr/>
          </a:p>
        </p:txBody>
      </p:sp>
      <p:sp>
        <p:nvSpPr>
          <p:cNvPr id="36" name="PlaceHolder 3"/>
          <p:cNvSpPr>
            <a:spLocks noGrp="1"/>
          </p:cNvSpPr>
          <p:nvPr>
            <p:ph type="dt"/>
          </p:nvPr>
        </p:nvSpPr>
        <p:spPr>
          <a:xfrm>
            <a:off x="4279320" y="0"/>
            <a:ext cx="3280320" cy="534240"/>
          </a:xfrm>
          <a:prstGeom prst="rect">
            <a:avLst/>
          </a:prstGeom>
        </p:spPr>
        <p:txBody>
          <a:bodyPr wrap="none" lIns="0" tIns="0" rIns="0" bIns="0"/>
          <a:lstStyle/>
          <a:p>
            <a:pPr algn="r"/>
            <a:r>
              <a:rPr lang="en-IN"/>
              <a:t>&lt;date/time&gt;</a:t>
            </a:r>
            <a:endParaRPr/>
          </a:p>
        </p:txBody>
      </p:sp>
      <p:sp>
        <p:nvSpPr>
          <p:cNvPr id="37" name="PlaceHolder 4"/>
          <p:cNvSpPr>
            <a:spLocks noGrp="1"/>
          </p:cNvSpPr>
          <p:nvPr>
            <p:ph type="ftr"/>
          </p:nvPr>
        </p:nvSpPr>
        <p:spPr>
          <a:xfrm>
            <a:off x="0" y="10157400"/>
            <a:ext cx="3280320" cy="534240"/>
          </a:xfrm>
          <a:prstGeom prst="rect">
            <a:avLst/>
          </a:prstGeom>
        </p:spPr>
        <p:txBody>
          <a:bodyPr wrap="none" lIns="0" tIns="0" rIns="0" bIns="0" anchor="b"/>
          <a:lstStyle/>
          <a:p>
            <a:r>
              <a:rPr lang="en-IN"/>
              <a:t>&lt;footer&gt;</a:t>
            </a:r>
            <a:endParaRPr/>
          </a:p>
        </p:txBody>
      </p:sp>
      <p:sp>
        <p:nvSpPr>
          <p:cNvPr id="38" name="PlaceHolder 5"/>
          <p:cNvSpPr>
            <a:spLocks noGrp="1"/>
          </p:cNvSpPr>
          <p:nvPr>
            <p:ph type="sldNum"/>
          </p:nvPr>
        </p:nvSpPr>
        <p:spPr>
          <a:xfrm>
            <a:off x="4279320" y="10157400"/>
            <a:ext cx="3280320" cy="534240"/>
          </a:xfrm>
          <a:prstGeom prst="rect">
            <a:avLst/>
          </a:prstGeom>
        </p:spPr>
        <p:txBody>
          <a:bodyPr wrap="none" lIns="0" tIns="0" rIns="0" bIns="0" anchor="b"/>
          <a:lstStyle/>
          <a:p>
            <a:pPr algn="r"/>
            <a:fld id="{51811100-C181-4161-81E1-C1B1D191B141}" type="slidenum">
              <a:rPr lang="en-IN"/>
              <a:pPr algn="r"/>
              <a:t>‹#›</a:t>
            </a:fld>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49" name="CustomShape 2"/>
          <p:cNvSpPr/>
          <p:nvPr/>
        </p:nvSpPr>
        <p:spPr>
          <a:xfrm>
            <a:off x="0" y="0"/>
            <a:ext cx="11796480" cy="11796480"/>
          </a:xfrm>
          <a:prstGeom prst="rect">
            <a:avLst/>
          </a:prstGeom>
        </p:spPr>
        <p:txBody>
          <a:bodyPr lIns="90000" tIns="45000" rIns="90000" bIns="45000"/>
          <a:lstStyle/>
          <a:p>
            <a:pPr>
              <a:lnSpc>
                <a:spcPct val="100000"/>
              </a:lnSpc>
            </a:pPr>
            <a:fld id="{11216171-A131-4111-8101-11D1D10191D1}" type="slidenum">
              <a:rPr lang="en-IN">
                <a:solidFill>
                  <a:srgbClr val="000000"/>
                </a:solidFill>
                <a:latin typeface="+mn-lt"/>
                <a:ea typeface="+mn-ea"/>
              </a:rPr>
              <a:pPr>
                <a:lnSpc>
                  <a:spcPct val="100000"/>
                </a:lnSpc>
              </a:pPr>
              <a:t>2</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1" name="CustomShape 2"/>
          <p:cNvSpPr/>
          <p:nvPr/>
        </p:nvSpPr>
        <p:spPr>
          <a:xfrm>
            <a:off x="0" y="0"/>
            <a:ext cx="11796480" cy="11796480"/>
          </a:xfrm>
          <a:prstGeom prst="rect">
            <a:avLst/>
          </a:prstGeom>
        </p:spPr>
        <p:txBody>
          <a:bodyPr lIns="90000" tIns="45000" rIns="90000" bIns="45000"/>
          <a:lstStyle/>
          <a:p>
            <a:pPr>
              <a:lnSpc>
                <a:spcPct val="100000"/>
              </a:lnSpc>
            </a:pPr>
            <a:fld id="{111131C1-D111-41A1-81D1-3111B1E131A1}" type="slidenum">
              <a:rPr lang="en-IN">
                <a:solidFill>
                  <a:srgbClr val="000000"/>
                </a:solidFill>
                <a:latin typeface="+mn-lt"/>
                <a:ea typeface="+mn-ea"/>
              </a:rPr>
              <a:pPr>
                <a:lnSpc>
                  <a:spcPct val="100000"/>
                </a:lnSpc>
              </a:pPr>
              <a:t>5</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pPr>
                <a:lnSpc>
                  <a:spcPct val="100000"/>
                </a:lnSpc>
              </a:pPr>
              <a:t>6</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7</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9</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11</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13</a:t>
            </a:fld>
            <a:endParaRPr/>
          </a:p>
        </p:txBody>
      </p:sp>
    </p:spTree>
    <p:extLst>
      <p:ext uri="{BB962C8B-B14F-4D97-AF65-F5344CB8AC3E}">
        <p14:creationId xmlns:p14="http://schemas.microsoft.com/office/powerpoint/2010/main" val="996676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3" name="PlaceHolder 2"/>
          <p:cNvSpPr>
            <a:spLocks noGrp="1"/>
          </p:cNvSpPr>
          <p:nvPr>
            <p:ph type="subTitle"/>
          </p:nvPr>
        </p:nvSpPr>
        <p:spPr>
          <a:xfrm>
            <a:off x="457200" y="1604520"/>
            <a:ext cx="8046360" cy="3977280"/>
          </a:xfrm>
          <a:prstGeom prst="rect">
            <a:avLst/>
          </a:prstGeom>
        </p:spPr>
        <p:txBody>
          <a:bodyPr wrap="none" lIns="0" tIns="0" rIns="0" bIns="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5" name="PlaceHolder 2"/>
          <p:cNvSpPr>
            <a:spLocks noGrp="1"/>
          </p:cNvSpPr>
          <p:nvPr>
            <p:ph type="body"/>
          </p:nvPr>
        </p:nvSpPr>
        <p:spPr>
          <a:xfrm>
            <a:off x="457200" y="1604520"/>
            <a:ext cx="8046360" cy="3976920"/>
          </a:xfrm>
          <a:prstGeom prst="rect">
            <a:avLst/>
          </a:prstGeom>
        </p:spPr>
        <p:txBody>
          <a:bodyPr wrap="none" lIns="0" tIns="0" rIns="0" bIns="0"/>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7"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8" name="PlaceHolder 3"/>
          <p:cNvSpPr>
            <a:spLocks noGrp="1"/>
          </p:cNvSpPr>
          <p:nvPr>
            <p:ph type="body"/>
          </p:nvPr>
        </p:nvSpPr>
        <p:spPr>
          <a:xfrm>
            <a:off x="4579920" y="1604520"/>
            <a:ext cx="3926160" cy="3976920"/>
          </a:xfrm>
          <a:prstGeom prst="rect">
            <a:avLst/>
          </a:prstGeom>
        </p:spPr>
        <p:txBody>
          <a:bodyPr wrap="none" lIns="0" tIns="0" rIns="0" bIns="0"/>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85800" y="2130480"/>
            <a:ext cx="7771680" cy="3450960"/>
          </a:xfrm>
          <a:prstGeom prst="rect">
            <a:avLst/>
          </a:prstGeom>
        </p:spPr>
        <p:txBody>
          <a:bodyPr wrap="none" lIns="0" tIns="0" rIns="0" bIns="0" anchor="ctr"/>
          <a:lstStyle/>
          <a:p>
            <a:pPr algn="ct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1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13" name="PlaceHolder 3"/>
          <p:cNvSpPr>
            <a:spLocks noGrp="1"/>
          </p:cNvSpPr>
          <p:nvPr>
            <p:ph type="body"/>
          </p:nvPr>
        </p:nvSpPr>
        <p:spPr>
          <a:xfrm>
            <a:off x="457200" y="3681360"/>
            <a:ext cx="3926160" cy="1896480"/>
          </a:xfrm>
          <a:prstGeom prst="rect">
            <a:avLst/>
          </a:prstGeom>
        </p:spPr>
        <p:txBody>
          <a:bodyPr wrap="none" lIns="0" tIns="0" rIns="0" bIns="0"/>
          <a:lstStyle/>
          <a:p>
            <a:endParaRPr/>
          </a:p>
        </p:txBody>
      </p:sp>
      <p:sp>
        <p:nvSpPr>
          <p:cNvPr id="14" name="PlaceHolder 4"/>
          <p:cNvSpPr>
            <a:spLocks noGrp="1"/>
          </p:cNvSpPr>
          <p:nvPr>
            <p:ph type="body"/>
          </p:nvPr>
        </p:nvSpPr>
        <p:spPr>
          <a:xfrm>
            <a:off x="4579920" y="1604520"/>
            <a:ext cx="3926160" cy="3976920"/>
          </a:xfrm>
          <a:prstGeom prst="rect">
            <a:avLst/>
          </a:prstGeom>
        </p:spPr>
        <p:txBody>
          <a:bodyPr wrap="none" lIns="0" tIns="0" rIns="0" bIns="0"/>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16"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17"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18"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0"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21"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22" name="PlaceHolder 4"/>
          <p:cNvSpPr>
            <a:spLocks noGrp="1"/>
          </p:cNvSpPr>
          <p:nvPr>
            <p:ph type="body"/>
          </p:nvPr>
        </p:nvSpPr>
        <p:spPr>
          <a:xfrm>
            <a:off x="457200" y="3681360"/>
            <a:ext cx="8045640" cy="1896480"/>
          </a:xfrm>
          <a:prstGeom prst="rect">
            <a:avLst/>
          </a:prstGeom>
        </p:spPr>
        <p:txBody>
          <a:bodyPr wrap="none" lIns="0" tIns="0" rIns="0" bIns="0"/>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4" name="PlaceHolder 2"/>
          <p:cNvSpPr>
            <a:spLocks noGrp="1"/>
          </p:cNvSpPr>
          <p:nvPr>
            <p:ph type="body"/>
          </p:nvPr>
        </p:nvSpPr>
        <p:spPr>
          <a:xfrm>
            <a:off x="457200" y="1604520"/>
            <a:ext cx="8046360" cy="1896480"/>
          </a:xfrm>
          <a:prstGeom prst="rect">
            <a:avLst/>
          </a:prstGeom>
        </p:spPr>
        <p:txBody>
          <a:bodyPr wrap="none" lIns="0" tIns="0" rIns="0" bIns="0"/>
          <a:lstStyle/>
          <a:p>
            <a:endParaRPr/>
          </a:p>
        </p:txBody>
      </p:sp>
      <p:sp>
        <p:nvSpPr>
          <p:cNvPr id="25" name="PlaceHolder 3"/>
          <p:cNvSpPr>
            <a:spLocks noGrp="1"/>
          </p:cNvSpPr>
          <p:nvPr>
            <p:ph type="body"/>
          </p:nvPr>
        </p:nvSpPr>
        <p:spPr>
          <a:xfrm>
            <a:off x="457200" y="3681360"/>
            <a:ext cx="8046360" cy="1896480"/>
          </a:xfrm>
          <a:prstGeom prst="rect">
            <a:avLst/>
          </a:prstGeom>
        </p:spPr>
        <p:txBody>
          <a:bodyPr wrap="none" lIns="0" tIns="0" rIns="0" bIns="0"/>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7"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28"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29"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
        <p:nvSpPr>
          <p:cNvPr id="30" name="PlaceHolder 5"/>
          <p:cNvSpPr>
            <a:spLocks noGrp="1"/>
          </p:cNvSpPr>
          <p:nvPr>
            <p:ph type="body"/>
          </p:nvPr>
        </p:nvSpPr>
        <p:spPr>
          <a:xfrm>
            <a:off x="457200" y="3681360"/>
            <a:ext cx="3926160" cy="1896480"/>
          </a:xfrm>
          <a:prstGeom prst="rect">
            <a:avLst/>
          </a:prstGeom>
        </p:spPr>
        <p:txBody>
          <a:bodyPr wrap="none" lIns="0" tIns="0" rIns="0" bIns="0"/>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3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33"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520"/>
          </a:xfrm>
          <a:prstGeom prst="rect">
            <a:avLst/>
          </a:prstGeom>
        </p:spPr>
        <p:txBody>
          <a:bodyPr wrap="none" lIns="0" tIns="0" rIns="0" bIns="0" anchor="ctr"/>
          <a:lstStyle/>
          <a:p>
            <a:r>
              <a:rPr lang="en-IN"/>
              <a:t>Click to edit the title text format</a:t>
            </a:r>
            <a:endParaRPr/>
          </a:p>
        </p:txBody>
      </p:sp>
      <p:sp>
        <p:nvSpPr>
          <p:cNvPr id="3" name="PlaceHolder 2"/>
          <p:cNvSpPr>
            <a:spLocks noGrp="1"/>
          </p:cNvSpPr>
          <p:nvPr>
            <p:ph type="body"/>
          </p:nvPr>
        </p:nvSpPr>
        <p:spPr>
          <a:xfrm>
            <a:off x="457200" y="1604520"/>
            <a:ext cx="8046360" cy="3976920"/>
          </a:xfrm>
          <a:prstGeom prst="rect">
            <a:avLst/>
          </a:prstGeom>
        </p:spPr>
        <p:txBody>
          <a:bodyPr wrap="none" lIns="0" tIns="0" rIns="0" bIns="0"/>
          <a:lstStyle/>
          <a:p>
            <a:pPr>
              <a:buSzPct val="45000"/>
              <a:buFont typeface="StarSymbol"/>
              <a:buChar char=""/>
            </a:pPr>
            <a:r>
              <a:rPr lang="en-IN"/>
              <a:t>Click to edit the outline text format</a:t>
            </a:r>
            <a:endParaRPr/>
          </a:p>
          <a:p>
            <a:pPr lvl="1">
              <a:buSzPct val="75000"/>
              <a:buFont typeface="StarSymbol"/>
              <a:buChar char=""/>
            </a:pPr>
            <a:r>
              <a:rPr lang="en-IN"/>
              <a:t>Second Outline Level</a:t>
            </a:r>
            <a:endParaRPr/>
          </a:p>
          <a:p>
            <a:pPr lvl="2">
              <a:buSzPct val="45000"/>
              <a:buFont typeface="StarSymbol"/>
              <a:buChar char=""/>
            </a:pPr>
            <a:r>
              <a:rPr lang="en-IN"/>
              <a:t>Third Outline Level</a:t>
            </a:r>
            <a:endParaRPr/>
          </a:p>
          <a:p>
            <a:pPr lvl="3">
              <a:buSzPct val="75000"/>
              <a:buFont typeface="StarSymbol"/>
              <a:buChar char=""/>
            </a:pPr>
            <a:r>
              <a:rPr lang="en-IN"/>
              <a:t>Fourth Outline Level</a:t>
            </a:r>
            <a:endParaRPr/>
          </a:p>
          <a:p>
            <a:pPr lvl="4">
              <a:buSzPct val="45000"/>
              <a:buFont typeface="StarSymbol"/>
              <a:buChar char=""/>
            </a:pPr>
            <a:r>
              <a:rPr lang="en-IN"/>
              <a:t>Fifth Outline Level</a:t>
            </a:r>
            <a:endParaRPr/>
          </a:p>
          <a:p>
            <a:pPr lvl="5">
              <a:buSzPct val="45000"/>
              <a:buFont typeface="StarSymbol"/>
              <a:buChar char=""/>
            </a:pPr>
            <a:r>
              <a:rPr lang="en-IN"/>
              <a:t>Sixth Outline Level</a:t>
            </a:r>
            <a:endParaRPr/>
          </a:p>
          <a:p>
            <a:pPr lvl="6">
              <a:buSzPct val="45000"/>
              <a:buFont typeface="StarSymbol"/>
              <a:buChar char=""/>
            </a:pPr>
            <a:r>
              <a:rPr lang="en-IN"/>
              <a:t>Seventh Outline Level</a:t>
            </a:r>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slide" Target="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447800"/>
            <a:ext cx="9144000" cy="954107"/>
          </a:xfrm>
          <a:prstGeom prst="rect">
            <a:avLst/>
          </a:prstGeom>
          <a:noFill/>
        </p:spPr>
        <p:txBody>
          <a:bodyPr wrap="square" rtlCol="0">
            <a:spAutoFit/>
          </a:bodyPr>
          <a:lstStyle/>
          <a:p>
            <a:pPr algn="ctr"/>
            <a:r>
              <a:rPr lang="en-US" sz="2800" b="1" dirty="0">
                <a:ln w="1905"/>
                <a:effectLst>
                  <a:innerShdw blurRad="69850" dist="43180" dir="5400000">
                    <a:srgbClr val="000000">
                      <a:alpha val="65000"/>
                    </a:srgbClr>
                  </a:innerShdw>
                </a:effectLst>
              </a:rPr>
              <a:t>Optimizing Software Effort Estimation Models Using Enhancemet of Firefly Algorithm</a:t>
            </a:r>
          </a:p>
        </p:txBody>
      </p:sp>
      <p:sp>
        <p:nvSpPr>
          <p:cNvPr id="3" name="TextBox 2"/>
          <p:cNvSpPr txBox="1"/>
          <p:nvPr/>
        </p:nvSpPr>
        <p:spPr>
          <a:xfrm>
            <a:off x="5562600" y="2758589"/>
            <a:ext cx="5029200" cy="1477328"/>
          </a:xfrm>
          <a:prstGeom prst="rect">
            <a:avLst/>
          </a:prstGeom>
          <a:noFill/>
        </p:spPr>
        <p:txBody>
          <a:bodyPr wrap="square" rtlCol="0">
            <a:spAutoFit/>
          </a:bodyPr>
          <a:lstStyle/>
          <a:p>
            <a:r>
              <a:rPr lang="en-US" b="1" dirty="0">
                <a:solidFill>
                  <a:schemeClr val="tx2">
                    <a:lumMod val="75000"/>
                  </a:schemeClr>
                </a:solidFill>
              </a:rPr>
              <a:t>Name of the student:</a:t>
            </a:r>
          </a:p>
          <a:p>
            <a:r>
              <a:rPr lang="en-US" sz="1800" b="1" dirty="0">
                <a:solidFill>
                  <a:schemeClr val="tx2">
                    <a:lumMod val="75000"/>
                  </a:schemeClr>
                </a:solidFill>
              </a:rPr>
              <a:t>B. Prabhanjali - 21H55A0502</a:t>
            </a:r>
          </a:p>
          <a:p>
            <a:r>
              <a:rPr lang="en-US" sz="1800" b="1" dirty="0">
                <a:solidFill>
                  <a:schemeClr val="tx2">
                    <a:lumMod val="75000"/>
                  </a:schemeClr>
                </a:solidFill>
              </a:rPr>
              <a:t>G. Kavya          - 21H55A0506</a:t>
            </a:r>
          </a:p>
          <a:p>
            <a:r>
              <a:rPr lang="en-US" sz="1800" b="1" dirty="0">
                <a:solidFill>
                  <a:schemeClr val="tx2">
                    <a:lumMod val="75000"/>
                  </a:schemeClr>
                </a:solidFill>
              </a:rPr>
              <a:t>K. Suresh         - 21H55A0511</a:t>
            </a:r>
          </a:p>
          <a:p>
            <a:endParaRPr lang="en-US" b="1" dirty="0">
              <a:solidFill>
                <a:schemeClr val="tx2">
                  <a:lumMod val="75000"/>
                </a:schemeClr>
              </a:solidFill>
            </a:endParaRPr>
          </a:p>
        </p:txBody>
      </p:sp>
      <p:sp>
        <p:nvSpPr>
          <p:cNvPr id="4" name="TextBox 3"/>
          <p:cNvSpPr txBox="1"/>
          <p:nvPr/>
        </p:nvSpPr>
        <p:spPr>
          <a:xfrm>
            <a:off x="155575" y="4419600"/>
            <a:ext cx="5181600" cy="1415772"/>
          </a:xfrm>
          <a:prstGeom prst="rect">
            <a:avLst/>
          </a:prstGeom>
          <a:noFill/>
        </p:spPr>
        <p:txBody>
          <a:bodyPr wrap="square" rtlCol="0">
            <a:spAutoFit/>
          </a:bodyPr>
          <a:lstStyle/>
          <a:p>
            <a:pPr marR="64008" lvl="0">
              <a:lnSpc>
                <a:spcPct val="150000"/>
              </a:lnSpc>
              <a:spcBef>
                <a:spcPts val="400"/>
              </a:spcBef>
              <a:buClr>
                <a:schemeClr val="accent1"/>
              </a:buClr>
              <a:buSzPct val="68000"/>
              <a:defRPr/>
            </a:pPr>
            <a:r>
              <a:rPr lang="en-US" sz="2000" b="1" dirty="0">
                <a:solidFill>
                  <a:srgbClr val="C00000"/>
                </a:solidFill>
              </a:rPr>
              <a:t>Under esteemed guidance of</a:t>
            </a:r>
          </a:p>
          <a:p>
            <a:r>
              <a:rPr lang="en-US" sz="2000" b="1" dirty="0"/>
              <a:t>Dr. V. Venkataiah </a:t>
            </a:r>
          </a:p>
          <a:p>
            <a:r>
              <a:rPr lang="en-US" sz="1200" b="1" dirty="0"/>
              <a:t>Associate Professor &amp; </a:t>
            </a:r>
          </a:p>
          <a:p>
            <a:r>
              <a:rPr lang="en-US" sz="1200" b="1" dirty="0"/>
              <a:t>Additional Controller of Examination</a:t>
            </a:r>
          </a:p>
          <a:p>
            <a:r>
              <a:rPr lang="en-US" sz="1200" b="1" dirty="0"/>
              <a:t>Dept. of CSE</a:t>
            </a:r>
          </a:p>
        </p:txBody>
      </p:sp>
      <p:graphicFrame>
        <p:nvGraphicFramePr>
          <p:cNvPr id="5" name="Table 4"/>
          <p:cNvGraphicFramePr>
            <a:graphicFrameLocks noGrp="1"/>
          </p:cNvGraphicFramePr>
          <p:nvPr>
            <p:extLst>
              <p:ext uri="{D42A27DB-BD31-4B8C-83A1-F6EECF244321}">
                <p14:modId xmlns:p14="http://schemas.microsoft.com/office/powerpoint/2010/main" val="379951770"/>
              </p:ext>
            </p:extLst>
          </p:nvPr>
        </p:nvGraphicFramePr>
        <p:xfrm>
          <a:off x="1524000" y="228600"/>
          <a:ext cx="7010400" cy="951198"/>
        </p:xfrm>
        <a:graphic>
          <a:graphicData uri="http://schemas.openxmlformats.org/drawingml/2006/table">
            <a:tbl>
              <a:tblPr>
                <a:tableStyleId>{2D5ABB26-0587-4C30-8999-92F81FD0307C}</a:tableStyleId>
              </a:tblPr>
              <a:tblGrid>
                <a:gridCol w="7010400">
                  <a:extLst>
                    <a:ext uri="{9D8B030D-6E8A-4147-A177-3AD203B41FA5}">
                      <a16:colId xmlns:a16="http://schemas.microsoft.com/office/drawing/2014/main" val="20000"/>
                    </a:ext>
                  </a:extLst>
                </a:gridCol>
              </a:tblGrid>
              <a:tr h="80953">
                <a:tc>
                  <a:txBody>
                    <a:bodyPr/>
                    <a:lstStyle/>
                    <a:p>
                      <a:pPr algn="ctr" rtl="0" fontAlgn="b"/>
                      <a:r>
                        <a:rPr lang="en-US" sz="2000" dirty="0">
                          <a:solidFill>
                            <a:srgbClr val="002060"/>
                          </a:solidFill>
                        </a:rPr>
                        <a:t>CMR COLLEGE OF ENGINEERING &amp; TECHNOLOGY</a:t>
                      </a:r>
                      <a:endParaRPr lang="en-US" sz="2000" b="1" dirty="0">
                        <a:solidFill>
                          <a:srgbClr val="002060"/>
                        </a:solidFill>
                        <a:latin typeface="Calibri"/>
                      </a:endParaRPr>
                    </a:p>
                  </a:txBody>
                  <a:tcPr marL="9199" marR="9199" marT="6133" marB="6133" anchor="b"/>
                </a:tc>
                <a:extLst>
                  <a:ext uri="{0D108BD9-81ED-4DB2-BD59-A6C34878D82A}">
                    <a16:rowId xmlns:a16="http://schemas.microsoft.com/office/drawing/2014/main" val="10000"/>
                  </a:ext>
                </a:extLst>
              </a:tr>
              <a:tr h="80953">
                <a:tc>
                  <a:txBody>
                    <a:bodyPr/>
                    <a:lstStyle/>
                    <a:p>
                      <a:pPr algn="ctr" rtl="0" fontAlgn="b"/>
                      <a:r>
                        <a:rPr lang="en-US" sz="2000" dirty="0">
                          <a:solidFill>
                            <a:srgbClr val="002060"/>
                          </a:solidFill>
                        </a:rPr>
                        <a:t>Kandlakoya, Medchal, Hyderabad - 501401</a:t>
                      </a:r>
                      <a:endParaRPr lang="en-US" sz="2000" b="1" dirty="0">
                        <a:solidFill>
                          <a:srgbClr val="002060"/>
                        </a:solidFill>
                        <a:latin typeface="Times New Roman"/>
                      </a:endParaRPr>
                    </a:p>
                  </a:txBody>
                  <a:tcPr marL="9199" marR="9199" marT="6133" marB="6133" anchor="b"/>
                </a:tc>
                <a:extLst>
                  <a:ext uri="{0D108BD9-81ED-4DB2-BD59-A6C34878D82A}">
                    <a16:rowId xmlns:a16="http://schemas.microsoft.com/office/drawing/2014/main" val="10001"/>
                  </a:ext>
                </a:extLst>
              </a:tr>
              <a:tr h="80953">
                <a:tc>
                  <a:txBody>
                    <a:bodyPr/>
                    <a:lstStyle/>
                    <a:p>
                      <a:pPr algn="ctr" rtl="0" fontAlgn="b"/>
                      <a:r>
                        <a:rPr lang="en-US" sz="2000" dirty="0">
                          <a:solidFill>
                            <a:srgbClr val="002060"/>
                          </a:solidFill>
                        </a:rPr>
                        <a:t>Department of Computer Science and Engineering</a:t>
                      </a:r>
                      <a:endParaRPr lang="en-US" sz="2000" b="1" dirty="0">
                        <a:solidFill>
                          <a:srgbClr val="002060"/>
                        </a:solidFill>
                        <a:latin typeface="Times New Roman"/>
                      </a:endParaRPr>
                    </a:p>
                  </a:txBody>
                  <a:tcPr marL="9199" marR="9199" marT="6133" marB="6133" anchor="b"/>
                </a:tc>
                <a:extLst>
                  <a:ext uri="{0D108BD9-81ED-4DB2-BD59-A6C34878D82A}">
                    <a16:rowId xmlns:a16="http://schemas.microsoft.com/office/drawing/2014/main" val="10002"/>
                  </a:ext>
                </a:extLst>
              </a:tr>
            </a:tbl>
          </a:graphicData>
        </a:graphic>
      </p:graphicFrame>
      <p:sp>
        <p:nvSpPr>
          <p:cNvPr id="30722" name="AutoShape 2" descr="data:image/png;base64,iVBORw0KGgoAAAANSUhEUgAAAEwAAABNCAYAAAAMy4KOAAAAAXNSR0IArs4c6QAAIABJREFUeF7tvAezG1eW5/lLB48H4HnDRyuKIiWR8iVHUa5LrlS+a6Z7tmNntmc+205P9O5GlXyVRIqkbMmXRO+e9wYeSL9xTiZIVmxsxHyAASP1BCCRee//HvM/5qYRx3HM/3r9TyNgCGDR/+f0GPmHHvIa/DX0nYGBwhzL/4FhJH/ls+RzOUdP1FcUh0RxhGEZmKZFLF9EoR4mAQYRxB74fXB7yXd2Bpws2Dk9QsNBzo707gaWARYhRhySrLlJjJXedDDOuyYmpxgxhg54MLfo7+aZfConyLWM9P/1B3ohR38ax3GQ4nFH1ORCIbExgDL5xlCADEEIYhNB2pR/A8CiZK4yflNua8oAYvwwICTAtA0sO6MDiUIfM+hjRy4mLoQt4vY2UWOL2HMx8yXM0jAUh6EwjGcVcSOHAAvDMMmYMVl8rMgjFtBwiMgQx5YupJkOc7DuMiaFwJSFi4mNAOR3OscEOJllhCyoTaSLI9dKFxgoyTUFsFDRT+VIsYmIDRnEHQlLoUrXVyTMVGDkczOBUVc6jtLVlYvrlVIJE9kQsRAJE0kMPczQxQ57GEGbuLuFt71Me2OJwO1RqAyTH5nEqk5hVKYIs1X8OIMXy2QMbCMBzI59nTiGTWw4xLJUcTIiESS9lwxCpTDCECkT0MwIDPndHW3S0xSoBDC9lgIoUENxIGGRXDRVIb2J/EuRv1tbB8Ak6A7U8rbmpSNLkFLRH6ipam8i4vJX7xb5mJGL5Teht0u4u0R79Qa7K3O4/S6lao3KxB5y4wewxw8QFycIjTxu7BCKBKk8BdgDlRY4DJVrTFXNRNKIBuOU1U2VzkiASwAT4JLPVfJT1RawkkMAS/DJDwCTFbgNWCpVcq/k0zuKOpAyBSuKE4lKfYbaIV1BMFQf7kLLsIhNmyhOzpKvzTjAiMRm7UBzFXf1GruLl9lauk6316ZQGmJkej/VvUfJ7TmGUZ0ltkp45PBjE6IIOw7IiLQYEVEcqK0UdbUMG0MtjoAmEpeuXrpWiZGVkQhgKWgpYANbeAcwAS1BIXsbMLE7inKi5wqV6usdw50oX2rEBawoWRkFKNX+mEAHIoAktxDbICucUXkII1n5GMuMMY0AU1SxvYa/NUd3+RKtlau0NxZx3Q5mJkd5dIba3qOU9j6ANX4P5EcJzSJ+7OiCidF3VFoELI8IX8djKmAZtT/ENob8FfVS26s2IjEWKl2DQ0BMDPzfgzUw/ncZfTFiA3s1AOUOVqm0DOwUMZGAJV5PxyBnir0LCGNPTDymIYAkKqA3j/NEUYFIAItjLCvEkvO8OuHuPN3Vq3SWLtBbv0HQWCcMXELTIluZYGj6XgUsM3UfVmUPcbZKYGSJIlG9CNsQLxsQ0SOkn1pNAcmB2MEko4dhqI9TnBKjLbZsoKapWopGp94xMSGJdKrnNECWQY0+gUw4Af/vABNxVruTfK4SLYskOqzGUyRMKINPEHbxgi5h3FdAbKUQ8kO5TRniCmFoqWRaZoAddTF7m3jr12ksXqC9dIFwZx7HbWAQEhkW5KvYI/vJTd2napkbO4g1NEVkldSDJVMSwES6OgSx3N9X1Y8jByPOYpPHtgpYRlYlTc1P6uXuLHgqZQpYaohSabsbMMuwBoAFiYQNDNkAHtX9u/R/4ElT6RHbEePiBh3a3V3a3R3coIVlB2SyJpmsjW3nyVgjZM1RDGTQYBlCKdrQWqG3fIXG/I90ly5iNpfIBR0c2yAybHy7iF+cwBq7h/zeByjPHCEzug+cIURGxWaBRxj36Hk7dNw6ftAnDEUSsmSsMvlMjUK2Rs4pYRmZxIvLz+62NmrTQjGsifEfSM1tJ5WcbxqyCCphfnLibcAGhvIuwAbSpQ5SJEskLNTBtvs7bNdX2a6v0OltY1geuaJNrpghlylSzE5QdKbI2SUc08YxQgy/SbizSGfhIs25H+kvXybTXqMQd8k7NrGVoRtnaDtVotp+CvsfpHrgAfKTByFbwYvB8/sEUR83bNPorlNvb9Bze0SB0I4ixdwo1fIUtdIkpVwNx8wnPC1hE7e1KeFHd2zZwJ4ntvw2ephGJgEsjry/B0yNZaKOd7/US8cxoRK+EMuO1XY0u5usbs2xsnGT3dYqAR2yeYO8AJYrUMyOUclPUS2OUsmVKVomhtvE31ygPXeZ1twFwtXr5LpblOiRdxxiK0srMKkbBfzaLKVDJxi+9ziFqYOE2RItv0ejVafTa9L1m9S76+y2Nun2+8SBTc6uUqvMMDlygPHaXiqFMTJmkTiylVxbQq7NO44s8ZyppN3FDu5Im0iYaIi+BoClEqVgCWgp30tRS7x5hBf6auRtR+7q0upvsbJ1g4W1q6zvzuMGDaxsSDZn4NgZsvYQQ/lxxoYmGa+MUsvmyfg9vLVFmjcu0Vu4irm1SLG3SzHuk3NssLK0A5MdI4dbnaF06AFq9x0nNzVLz7LZ6jbY2tmg3tqm4zXphk26bodu3yMOMxSzo4zV9jIzfpjJ4QNU8uM4RpEotAkDmZ1BxjZTL59OUB1YQo8GlOoOqboLsAgvlSWhAAkpVYZ7V2yo4imAxRGu76oLdzIxpuXT9rdY2b7B3OolVrZu0vV3wOpj2RLnCV/KUsrWGK9MMD0yxUS5SjkGd3WZxpWL+Mvz5JqblPsNCqFLxjQx7SzdyGLbzNGrTlI8eJTqkaNY4xPUY5+V+gYbO2vsNjZpe00iJyI0DfpuTBxmKeXHmRzZz96JI0zUDlLOjGFTVMcjFsg2LLKOiSVSlqpnon1ilwegDZxAYttMcomE+bGbGEGNCZPQQoyjgCegCW3Ri6mWikqKG/fA9IiMfgLYznXmVy6xvjuHFzexMj6R6eK7PczQpOgUKToFavkqM7UJZkpVwvVNNn/6EWNjnRGvR9ltYffaGEGI5eTwrTx1p0CzWCOz/yDlQ4fwKiXWenXWWhv0/BZ9v0mj3yK0ILKz+IH8T4FyfkLVcc/YYcYr+yk5Aph4a4c4tDQecMw05tS5D/jkgPWLZ0g5aSqAtjqtOI57US+JvQy5gLjOFLA0K6HOIA13hEpEhISGS0yfkC7tYJu13ZvMr15ibecWXtTAyonc+wR+VwFwsHAik7JTYnZ4mgPDkxhbDdZ/vIC1scVY4FPxuti9LvgBhpXBs3M0FLAhMvsOUDy0j27BYbG9wXp7ndDoEtCl5XYJbYdYvGpgJ4DlEsBEJcdK+yjaY1iUE06WklkNbe+y1Amn/P8HLDMArBm2NYA2Dck8iHYnoN0JCNOUTSphyrvoK2CR0aMX7rDWnFPAljeu0/F3FLBMLsY0feKgT9yX9E1IyS6yd3iGA8Mz2Ds9Ni9exVjdZMT1qHku+TDACCVXYtLBounkaZeGyB0QwGbpFi0W2qust1bxjZZKeC/0IFMCq4Tr2cRBjpJI2OgBZsYOM1rcR8EUwEqYMmmloCJlhjKJQcQkvE7E4W6V1ARCGgXlBirZjDpJ1kEBS4JXASyJk5WppsxMLihUwlNWHZsusdFXidruLDG/foWF1SvUO+vEVp9MwSCbjTFil8DtEvd9ClaB2doeBSzbCti9fJNgaZ1yu0vN8ykro9ZMF60wpm5l6VarFA4eoHBghnYhZqG5wlpzGd9oJFIskzQLhJTwvQwWRSqlSSZHDzE1cohaYQ85s4ZJAYMcZizs39G5DuyX2uvb4dwgT5basPSk/G0Ji1OVVHKmGS7MWP47cI+aB0oSfRICCVkkAcswhTi2abjrLG+JHbvCxu6iciMnF5PLG1iWj+91CfsueSPPzPAe9g/PUOxB+/oivbkVsrt1Kp5PzbTJWhnNPDSCkF3LwR0eoXjwANm9EzSzgQK23lzCp47pBMSmQRjlCIICxAVyTpVhoRSjBxmvHmAoN4ljVBQsIbQiZRoySTSRusGBIqqESVIhjXsSapqQ2YKqcxzHLSQGTKVIk38GluaUkoyQedtdyroLI5ZQSn7TwzCEkvTpRbtstBZYWLnCysYcze4WkemRycbYGYm+XPx+n6yZY6a2h721aaq+hbu4TvvGIvH6BkOeS82wKGYLRKZNI4yoWw7B6BiFAwewpoZpWB4LrWU2Wiv4UR07I/bOwvcsAi9L1qlRLU8yMbKXidEDDJdmyVsjmJQgFqMtKpnV2NKQLMpdweBAGZMsjOZe/o64FgahUQNh+lEiRZprEmInaeABYKKaEoRJ3CY0OSCOXeKwi2G6GHaAb3RodlZZ27zF8votdhsb9CUbYfqYGQiNEM91cYwcU9VJ9lQmGCFLvFmnc2sBf3mJYq/LEFDI5MHJ0AyhnclhTEyT3buPoFZihz4r7XV2Oht4UR0nE2FbJkEfIs+hXBxjfGSWidF9jNT2UsxP4BhVjLhAHGVAYsxBMG46tzMUaVx+m7IKQxDxUIuUgioKrRJWl7SMhvGxSpOm3+Ikq6lZ8kHaMpLzJIUTEId9Yr+tKmlkImLLxXO32dldZn1rkZ36Ou1eHTfqE1oRvhHjej62mWW0NMJkaZgJO0+206M7v0h/YY5su0khDik4ST6/E1v08yWcmf3Y03voFrJsBl02uju03F28qEnGCclYJvRjzNChNjTO5Ng+xkb2UhqaIuOMYIh0RXkFS4NyyZXJKpqWJO9STmGm0pRkJ5IUdRJ23gEsTVHXBx/HcpoY3TuHIZIl6RwBS2NOoQtiIT1wW6qOZGKwfaKgidfdotXeotXdpdtv0nY7tEKPVuDRc30drIRHtUyeyUyRahjgrS7TXbiJ09wh4/VwpBhg5+hLsFwZIb/3MExMs2uZrPW71P02bixxZBvb9MnbJnksCmaOanGY4eoU5fIkTn4U0x6CuAhhLk0BZhOwlIWnXEnuZ1kJgGaSaRUkBKzbnD+GwiCn30gFUaRLTrfTQ5OzEnj5HgRCC0QNJZUSEAY94n6TWLKmttg1nyhsE/pNoqinxNaL+nT8Pu04oh1B25VzRCFschGMZ3KM2xBsrtJduonZ2MLsNTHCCOwsgZ3HHJmifOgYjEyxGYSsdjp0JLOaFXPcx8KjYEu+3aQQW+StPLlMGSdTUbAMs4yh3rGAYRUw7DyGncOyJEeWgiQSakk4ZoMptQFLnY7YMAUtdQy3ARM5GaQ7ErAE3wAzBSuW0le/C16HyO3ieT3cXpOw1wQBTMCKPYKgo+keiSHzBUfFtBeHuE4WN5Oj40e4bkjkhsTdPsOOzXTBIdpdo7N8k6i+QdjaIZYFkjJbtkx2YpbK4RMYtQnWO33WW1082yRXymKaHmbcp2CGFMIQpx9geBFRYBKFonp5DKOAaRYxrSJmpoSZLWFlimTyRex8EcMR9bTTsl6iqrFlaz5uIGWyfvIqivYmXjLN94hmGQJYiBl7GH6fuNskaO4QtLaJu3XCbp1+c4decwu/11BbBilgkvWwIk3rFIp5sE1c08SqDuMMT+CZWYLQROKY0A0oORmGcw5Rc4vW6hy93VU6O+v4bh8nk6MwVKM8tY/y/qOYxWEa3T6Nbo/IFM8rVqJN5DfJBD3MVou41SbqeQReRBhIpjcLRg6sPIaVx3QKmE4RK1ekUBulNDqBUxzCzBYwMkVQZyPjzhGZWc25Sa5RLLcImXBEBayRsl0x8I4CJmy7pwAFu+v0t5Zwt5eJWhta4YnaOwSdHUKvBWFPvacQWmXEtomTy+Bkc4SmAGZhDCWAxbkypuTEnDKWnSdXKJPPZon7bdqbyzQ2l9jaWKLf61Aolhgbn6Q2vY/c6CymmcVtd+h22/h+j0jiyN4WkVsn43cxOy1otcELiIJYk4hJjTFDbGY1v4aVI7ZyCowzNExxZIp8bZxcZQy7PIKRr6hU45SIrLwWjwP1lonxrwwA2xYTBGQMOWJswwdJ8O2u0lu9SWPpKt21G8TNVRx3l0LcIScpZjnCPoYmmIxEvG0RZ1srO25k0MOka2cIcmWs4jCFoUkqw7MMjezBqU1AXvhRjNvYYmNtjoWlm3S7LarVKvv3H2B0ai+GhD0dl7hRx2vv0q2v09xeoF1fAm+HfOySC3wyfohmnNTzJV5PQJNiXGjaBIYjlUw8I4Nn5bAKw5TGZ6lOHSQ/tg97aBwKNchViOwSoZETw5SSLqgOqkabokkmZPWIsaWY0d+lv7VIa/k6zaVruJu3MNrrZP1dClGbXNwjg4sT++pPNJNkmoSGvLszSM+0FTT5K6uXKYySL89Qqs6QG92DMzKJUSoThi6t+gbr64v0e20qlQpjU1MUh0ZUJ/zNbXorS3Q3l1R13fYqsb9FwepTzhhkxc74IUYQac5OVEkLGVI4NjOEVobAdBS0Pg7twCCwSwrY2N77GJo6iFObxpBKe6aigXwgJkT1LVFJ4Yiqkltu4lUdKb+LhAll6O/S216mtXJDQetvzkFrDcfdUcDy9MkbPlkplyF1wWSQfiTzMwlNyR6IKti4UaiH4RSwsiNY2XGc4iTZ4RlyE3txxiexilm8oEezuY3v9Sjm8xTKZS2Z+fU23aVl2otzuFtLRJ0NDH8bJ96l6LgUHQsztoj8mCiUqlZMqN0MFoYl48gQmhl8w8LFphdbdHxTARua3MfYvvuozhwiU5vWtgScMrGopKm19UEJQNhcasOEvGscGWmHggiu4bXxW9v0thborN6ivXaL/vYCRnuDbNihZPgUTJ+sqaaRKArxwwg/kNSiqaGN1BZNYeGhSxR62E4eOzuCb9ZwzQrkRsiP7aG8Zx+5qXEo55MWhUgiihgj8PG26zQWV9lZWKC/tUrWbVA2uxSMFna4DcEusS9VK5NQcl0S8lgOpiNHBsNJ7JeHRS+EThDRDSxCu0CuMk51ej/DM/dQmtiHVRmH3BBYBTBzhCpdYmISp3i78t3VzKrET9INE0jJFVs8n9chbG/jbS3TXZ+ns34Lb3cFOjs4QYdc7Cm4pvY3RISqClLxMYl10FlV9TjoaWeOLattDdGNy3TjIlFuhOLkXkYOHKK0dwajWiTUOFVKcSb0erRX1ti6tcjuwiL+zgZ5v82w4zJk9ciEO8TeLr7n4kkLgZVX7yb3lvhSq+2WSJej6ugbNp6AYOXIlEcYGt+jR35khkxlHCM/BLaAlU0cBdIxJJwsUcncwOhLGK3FjVBixCDpg5GoQY1Hh7i1jbu5QndjXm1If3eFuL2LFXSxhFZIPkrDpiR1KQNVwCw74cxBDzvoIXW9gCKdqEDXKBGVRilP72f04EFKe6aIyg7dyNUiSy6bwXQ92ivr7C6t0VxaJdzZIttrUKFHxeyRj5vg1/F8D9fI4jslQiubcCjDVMcjKiWgxU5OOZiRK2IWhiiNTFGd2qte0irW0nxaDqShxRCPKoClJDa1YZkBD3O1vUXskDB7aSgST5lEVFIkxesStXcJm1u4u+t0NhZwt1eJug0it03gdogkEtD2gaRDRwYtVzCjgEzoIv7GMS0t9XtWhagwjD08SXF6D4WZaYxqjnbUYaO5ST/0qJRKGlOaXdEjj2C3hb+xhbe+jFHfJOc1KdIma0jWN6JvOPSMHJ5IlDid2MCLUKmKnTyZYoVCdYzi8DjZ2hiFkXFy1THMQkXZvzQCJB1Jwv4zGJaEUFLXSNP0coadBt+uUAMtOUlCLekP0t4JiS0NIbE+hmRN3Q5hr4Hb2CCobyQgtsXVN/DkO18I7CANZyh+Ei1k4oCCeGCxadkKcXEEhkawqiPY1SHCUoYmXTa7G6zsrNLzuhQKOSqFMsPZCiO5KoUwQ7DbxltZxV9fwWzvkA1aOJHElAH92KAnqieSIelq0yGSw85h5kpkyzWKtXHyIxM41RGcQkJYhagaEltGpo5Xahmm5YAcaUYwyW7FWFJlEi/p+i0sy8IUQy0mPBLjHRKHofZISPOIJV0ypGkdtw3dBrR3iRo79Bs79BS0LkEgjSFp/6KkiGJpQzHI2w65fFFth1kbx6gOExcLBKbPjtdgubXMUn2BtfoqHSmGWCbVUoX9Y/u4Z+oeJorTGH2I13dwV1cJd7cxew2VfgnV+mGIL5ItUpnJYWUKCoiAZReGyJRrZIeGMSsjIFIl9jQyMCTFI4fY3kjSWxJ/20mcqaWypHQmdtWwpGdDOhD9enKSXETcs9ADdc9JJ45lGdhSYYkDgqBHT6Vql7jbIG43CNp1+p0mnsScUlazbTLZLJlMBtt2yGYKZDKFZHASngxVMSplJD3VdOust1ZYbMyx1lqg3tvS1gMpzxWzJWZHBbCj7KnuJx8VMJsBNDrEnQ6G1yP2ekpDwkikOzErsrRitwy5Z6ZInMkTZwqQK0JW3he0KuVkstjqmESaEkOVdJiljV2aHxzUGiUhkLYK+P0trNSrRbGFHxnCAZOOlaR3ib7r0Wk1aDd3aNW38XtNbOkglDDF7agdC6ReKVVS0XfHoVAoUK7UqI1OURKXbTh03YB2GBNkDOySRWD12eqssrRzjc32Io3+Jl6Y1BjymSJTw7Mcmryf2dphcnGR3lYPd7uNE8FQMU8+axNKb6zfI9asbo9Op0e906PZD5SoWoUh7OKQqmcvNHDDWOuepaEKlcowlaEhCrmszvV2NVGlLckPDlrAJIpJymyNZZxsHitbUM/Q92MloHbG0qKqF4QsbWxz4/p11hbnae6sa7tlOWeTd0TyfIzYJ5bcVr9Pp9MmDEPK5RLTs/s5cN8JpvcfwbZyrK1vcXNhiXqvQW2qwvhslba/w/L2VbY7i+y2lnD9NtlsjkKuzMjQNPsn7mdf5QgEDreuLLM6v0YlX+LIkXuZnp4Eqav22xqT9uo7rK2uceXWAtfnl2i6AeWRSUam9qjx36q32a43NSIZHZtg//6D3HPoANPjw+RtqZilPSlhhBnFONogmGYnrLR7p19fwc7ksCWXbti4IbjCljHpdfssr29w8co15m7dxOt1qZbyTI5VGa2WKGRMpXeWdL/EIc1Gg+WlRTY2N7RjenrvAY6deJyD9x0nkytyY26Fv379HXOLc0zNjvHIz45RHDLZbS9Q7yyx3VjE9VrksnkK+bIWM2bHjjGW289uvcsXn33HpQtXGKmO8Nyzz/DAsSMamRh+B8Pt0t7dYX5hka+//xtffvcDu12Xffcc5f6HHqNYHWVzt8ny2jqLK2t0un2mJiZ45OGHePj4MWbGhrURxhbUUsAkTT+oVUpDs0qY19q4o5KmdI6a9MOIRtdnbmGFv126zOUrV2i3WoyOVLn30H4O7p1hrFoiZ4t9k8a2pLGuUd/l5q2bzM/P0XNdRidmOHriUQ4feRAzV+DC1Vuc/ug8Fy78xOTkCC++/DSH753GsNq0uivUm6v4fodsJksuV6JSnmJ86CBONMyNhWU+/PA83//tAuNj47z5i9d46vGHyQrXi3rYvku7Ifef5/wXX3L6/KfstPsK1skX/4GJ6VkarS5Lq2v88NNFLl26rIH6Iw8d56VTJ3nw6CFGy0WtiBvS4ThIzSddxTjOoBnFbyuNiISH2FlM26EXRNxY2uLMp3/lk88+Y2t7mwMH9vPkzx7nkRMPsGe8Rjkj/aRJiX3QaywNISvrKywsLrBTr5PJF5g9eC97Zg8iDeY/XLjC6T+f5buvv6eQz/HyC8/w8ktPMjtToS/xq1vX/JrQOXEUhewIGavKVt3jq29/4vTHn3L56jUmpyf59W/f4LlnnqBoWUhDuhMG9Dod5hcXOffZF3x49hz1do+HH3+KV954kwOHDqlT2G52+PrbH3jvvfe5duUKszPTvPnqK7x46mn2TY2RNU2VMiuS2FRCNemdlfGkgBF0CULpJJQUTQ7DtNhodPjqh8u8+5cz/PDjBcqVIU4++xTPPP0E9+zfw1AhS8J8pY4nyhtjGVIfDGm0G2xub1FvNjT4Hh6fYGRknI4f8s23P/L+2x/x7Zc/IJ3fzz75M373m9d49MRBDMMnjPra5Ku9sHYG28zjujaXr63y8SdfcO6zz5lfmmd67xS/+w9v8vJLJ6nmCkl0Ig0ursviyiofn/+E9z/8iO16i8eefJo3f/0bjtx7SPlmq+9z8cpN3nn7XT49f45SPs+v3niN137+Igdnp3AMU22X+E4RJDX+ptRXBx2IYT/hXUJdnRxeGHF9cY2/nPmUd/5ymrX1TR56+CHefPM1Hnv4GCOVYkI30vgzkmBZ6IRpYZmWtkO1e11ava4mfnKFPMVCiXbf5fPPv+WP/9f7/PD1BcJeyIljD/Iffv9rXjr1CEMVaa9MO7HVx0vgbrC94/LXry/z4ZmzfP7N16xtrTCzf4J//Odf8dqrLzJWrSEJaWkACIKQ5bUNzpw7z1vvvsfmzi5PPPUMv/397zh25JDGthKE35xf5f33PuD9d9/Vytiv33ydN155mQOzU5ixoYBJNcoQwKSKpo0rgx7XyCPUTmoTwzLZanX58tuf+NO7f+GTz78kVyjwyzff5FdvvsLemVEcWyrjKQ+OQ8JIym4BlmViW1IVMPGiEC8MCSSgt2Icy6brepz9+Ev+/f98m+uX5wh7MdPj07z84ou8+spzHDw4SbmU9tOm9cBOJ2ZuYZsvvvqRTz7/gh8u/Mjm7hqTe0b47R9e5403X2ZmYhJb2ynFVkesrG9x5ux5/vT222xu7/DkM0/zj3/4PQ8eTgDrhjHXbi7y3rvvc/b0GUrFPL958xe89PxJZsZHtFQk2pKxkvZ6AU1Qy4oXTRrqZNJJ4Cw5rYW1TU6f/4K33vuAH/52ganpGf7lX/4Tb77+MrWhrF5Qy3FqvyRhFyShlClCIVtbpIwCvgT08r16UZNOt8df/nyO//t/vMfOZgsjlJ4em3sPH+aFF5/hZ088wPTMkE5KJNj1IzY2ely7vsKFi9e5ePkKl69dYXVjkepIgVffeF4BO7h/HxlbTD8EYcTq2janz57jrbcEsG2efuYp/vCH33P8yD1q0Nt+wN8uXuGD9//MpZ8usGd6ijdeeYXHHz3B8FBJN5bI/eVcbSoUcxXFFLIpD9OCpcQLKHdIAAAVHElEQVTdhvSNhly9ucAHH33MB3/5iKvXbnLw0EH+23/9V9545QXyjnpcBUvEVtvL0w1S0huqtfI08BbuG6Qd1yKR9WaTd989zbtvncaI8+SyJbY2t1UyH3/iIV559RRH799LPpvwoWbb49atLa5eXWB1dZvtHfGAt7g1dw0nG/HMyUd54xcvcfToveRzeU30eUHEyuompz8+z9tvvc3W9iZPP/0U//iH33L8yGEFodHr89W333HuzFmajSYPHDvK8ydPcvjgPnKOo+AI208EQiqNIUEYU8qlgEmDbSghhWHg+iFXrt1Se3H23HmuXb/F7Ows//X/+M/88rWXKDmJFAr4onxJRkO6EgZsJenISCJPQ72SeFJxKovL67z73hm++uonpib3UakOc/naVRYWbzGzb4xXXnuep559mInhYWX6azu7XLo4x41ry9hGgVy2zK0bt/juu6/pdRscP36Y115/gccefZBKuai5dzeIWFzZ5MyZc7z91ltsbKzx6GOP8MtfvMGRw4c00SnAX7l8iYW5OUaGh3noxAmO3Xsvw1Up+srGsUhNjqMhobgz8ZaQdVIb1tMuwwQwkbDL125x+uOzfPLJZ1y9dp3pqSn+9b/8Z379xiuaP9ftLwKLbG6QQzcJpCX2dHtMUgRNtp2IJHZ6fX68dJO/fPgJSytbPPDgCcYmJ/jy26/59IvzGBmfF15+ipdfPcW9hw7p9peF1RW++/YSc9dX2TO5n4Ozh7lxbY6zZ86xsbbMoYMzvP7685x85hFGakOSiKLnRywtb3L27HneffcdVleWOHr0CC8+/zyzs3vodFqsra6ytrKEY1kK1sMnjjMxOobj2JqxSCr9iaF3xD6kH2XtNEXdTT+QxgvxMlduzPPRmbOc/+RTLl++zMTYGP/tX/+V37z5GqVsuptDq+KBXly9h17YTLusU7nTfjOUfgjD/uTLv3H23NeaYDz10kmm9kxz+pPz/Psf/52VzVs8+tSD/PJ3r/GzJ54gZ+W5Pn9Lmb0A9tgDj/Hk4z/j2sUF3vrjB8xdv87M5AhvvPE8P3/xSUZHq7oPpO9FLC9v8sknn/LB+++zuHCLvbN7eOSRhxmuVVlbW2FxYY5+t8vRI/fy+uuv8/D99+M4sr3ndlcqYSit9UIlkv44wbAwkLBOWgoXchaGEfMrG5z75DM+/Ogjfvzpb9Sqw/z2N7/hF2+8yvTEKBnb1qA0SWkn/EtTyqkKasUmbQGVa4qELW3ucPr8X/nq65+ojgzzwksnmdk7w5fffs87H7zL3y5+R7mW4+lnn+DUC6cYGxnnwoWLfP/tRUq5CieffoZ79h/g6sV53n7rz/z0/Q/kcw6vv/o8v/nly8xOjitgvi9Gf4ezZz/h7XfeZmV5kaNio049x9jYKEsL81y6eJHFxQVqlQovPH+KZ596munpKTIZW01H4Etay8RxhCYZ6kh8P2Y4n3rJQU5/kP7ZrDf469ff8t4HH/DV139V9E+dOsXrr7/G/UePMFQopH39g+7idGfuXRu47t6EI4DeWlnjvQ/PceHSNfYfOMALLz3LzN5pLl+9xblPP1G13Nxe58ChfZx87iSze2a5du0GSwurPHD0AZ57+kmGhoa4emmO99/7kC8//wLP7fPzfzjFf/rDr7hn7x7d7CCSsbq+w8dnzvOnt/7E2toqTzzxGL/4xevqDZeWlvjhhx/5/vvvNNS7//5jPHfyJA8+8ADjo1p51C4jibgzjq0SJtf0g5ixAWB9KYeHA2ph0nX76sIFsDNnz1BvNLj//vv51a9/xamTzzJeq93pZtdaQEQshlLslWWrsRRJDiNppEtasK/OL/DHd97j1twiJx46walTzzCzZ1Ind+HSZc6e+5hvv/1Ws5oPPvigAtbpdMnlcpx85iQP338YL4q5euUmpz/8mPPnz7G1tcXzp07xX/7lP3LsngPqjGQs62s7nD5zVgHb3t7h+VMn+af/+FsOH9zP1k6THy9e4ezHH/Pdd99quPPII49w6rmTnDh+lGqxQD8IcYMkvyXzkcqXeMvaQCVlZVw/0KShZUseO2J5bY3PvviCDz78CxcvXaRUKvP0s8+qaB+55xCVao1cNqv2S6tFgYixQdayNK8k77vdnm40sDJZbiws8v/86U+sb2zy3HPPcfLZJ5kYH6HZlmzIOp9+9jkffvghq2urDNeGmZic5MD+/Tz44AM8fOIEe8aHdSJz8yucO3uOjz76kOWlZZ5+6mn+93/5Zx46dq9OyvdDtWGnz3zM2++8w+7uLs89+yz/9E+/54Ejh3C9gPmVdb759ns+/+xz5ubnyOdzavwl9Hvgvns1LSWL7eliW7rRTI7yoAjix2IsfQLZaWY7OBY0uz2uXr/ORx+f4dz582xubbFn7yyPPfqYGtCDhw4xNjyivEVecgMBTOyVkFgBq75Tp93tkSsNMb+ywh/feotWu82rr77Ks089wWh1CC+KaHddvvrue/701lt88803eJ7H5OQk//Dyy/z85y9zYO8e3R0i525s7PDJ+U955923uXHjFo89+ij/2z//E088/CA5y0oAWVjl9OmPef+D99jdrfPUk8LDfsfD9x9RuyRNLfPzy/z1r19x/pPz3Jq7xfjYGCdPPsupk89wz75Zsvk8vhZAzCTjrC1VqZd0/YSRyxKZYrzTILrZavHT5ct8fO4cX3/zDVs7OwwP1zh+/DiPPvoo9xy6h7HhYU3FJBsDDA2R2q0225vbbG9v4wcBleFR1re3+fNHH6nqi2d64vFHGalIG7g42pjLc/O88977/PkvH2pmRNj/7377G1588RS1gnRIJ3nPbrvL+U8+57//j//OpUuXuP/Y/fzhd7/jhWefYrRSptf3uX5zidNnzvDhR39hd2dXVe6Xv/oljz18nEpZ9m1G9LouN+bm+OjMx5w9d1bP27tvH08/9SSPP/ooB/bvpTA0lEYuyYb/24D1vXTvo5lQUPEKg4czbO/u8tPFS3z59VdcuXqFbrdLtVbj4MGDHDp4iPHRUc3dS+hjW5ay4ka9roD1ez2NQ2sjo2zt1vnq2280E3Lq+VOcOHGcsWHZlmervVvbrfP5X7/mz3/+s6rtiePHee3Vn/PAsft0X5BogRRG/L7Lp19+xb/9278p5dm3dx8vvfA8zz39FDMT4yphN+cW+eLzz/nss89oNJscO3aUl156iYcfOs7IcFWNuSzUdr3BN9/9wKeffsq1a9fUtOzdu5fjDz7I0fvuZWpmmnKpTE7S15ZsnBlImBep2Mmuf8la9FxP9yLms9KpZ7LdaHDh0iV+uniBxYUFlQDxnFNTk9SqNVVFoRW5rLR1Q7NeV9AEyMmpaSq1mgJ249YtnGxWjf6R++5jYnyMUiGHbRipfVpM1H9zS9n5E48+QqVcVvsqKp/LOIS+x1ff/cBbb73FzRs3GK7WOHr0KI89/Ah79+zR1Pjy8go//vgjP/30ky7wgYP7ePzxxzl67Bhjo6Oah8vYFn4Ysrq2oYlEOX9+fp4gDJiZ2cN9R+7lnsP3MDk5Qa1aUdNz57kVKUkTWyQXETWScMByxONZBIGvoEkgK55pcWGReqNORuyX7Ft0XVXlcrGkn7ndHv1+j/LQEHv2zJIvFhWw7Z0dLMdhZs+MHiMjI1p8EMCl7tfqdHXwjVaTw/ccZlby9aaJL1tppPc54xAFAdfn5vjxbz+yvbWl2ZFyucz05CTjo2Oas2o0GiwtLrG8sqxEfGJijIMHDzA9Pa3URDyvSJkh/Wt9V+3cyuoKS4uL7OzuagFHONv09Axj42MKWD6b0TxZul8y2aWm4VHaoy72TJi/TEbE148jvCDQFVtfX1fvE/gBrtvH7cm2ZYtioUg2k9GCru/7lEolxsfHsaWFXJrh+n3teSiVi9r/JROVcEQ3helO6oj1zU08z9XflXI53DRTIBKcLF7Atqr8pk5WJEoO0YahoTJZJ6NOQ1Sx1Up6K8vp/UrlUgpWRu8rmRVZcQG1026zs7tDfVd29QbkczmGKkMUiyWKRSkTyh7MNKcvhUg5SXRYJEXqihLTKDcLfK1lWrath3rEMNR+BhmY2+8TBoGudDab1d+Kl5TP5FrymdQ8BYxQW6KS7KWsooCcbPqSvJMUjwM9VL1zOf1MFkkkwUlKXCptMk45RxbT83y6sqFLVDab1QUTBxREkpJJwjblUbIoei/Z8icMfrCXarDTPanDyoIIlxvsPxIV1UqSZVDKl9Ino/hSoA0UoMGzFwR1fR8L1UjAkEsLSINnVSRPF0hiriRATW4koOkENVQS75sEsLookpmVVG/K3yRol9SM73s0Gk3lgSIpMinXcxUgaWqRcEykQd7LJASIjLQzGYZKs0i7fGbL5tQ0JSPX1gUUKfJ9BcK2LS0uS2JQ0unyXiRNGnFkbklNVQrQdiIYnqd2XOxxPldIK9+ed5t8SrpP0hsyOQVA0jiOo6Iuk+/3XZUKmZAiL02/4h1FZT1ffyMXl9WW7+UzfSqBTCxIwNYBx8k95PNSsaRquL29q3aqNlzVjScCmIxFpVval+KQQDsMk6KEI5zRdvTevvS2ysOPNKZNXom2JGMbqK8AoWCIgAQhmWwCjtjpBDCxlZnEXoaRapLMVc7LSvOwbvmWLcnag5L0eKnkyCt9CFEiQGKYEzsnYp1IVbpHQvrB5Ldqb8TjWomEGYlaa4wqbcOhn6qXgJ9IsGyQktYmkXDhb6rGuax6RWFeMhmhInJvSYXrc3XSR0HoQ5FExSxTpUdAUGcl4YyZbk9OibRIYbJYIoGSxkoWTzRHJEqur+ootY1YSmrJNcSUJFpj4UjrgSaopVXprg3x2iMqT2RKJUBWUTsJxcb4iY2Ri8nKycWTtPSdB4LIuXKOVip1JZMu0WSXinTJJODKS5rsJH5M7J6ArXlutY2SGhbplusnAItEWrr6Kjn6NKnkOToC3sAByNicjKOSMZiL2rNU+gaPwBHbOPhs8EigwXcDoZFzxD6LqbCstMwmhl0nJBIljb1hqPmibqerdqFQLKqY9t2+Mm0BQ8VYG/BkRa1kYtIBZJn6V64lDF5sk0xeMnIiOTIzCarFpshvJPgdSKqocUba1cOQdrNJv9+/7YTE9vmBPHXFpFAqUSwUtOnXE08p49f7RXhuIjm5fE7bDeQ+4sllTGI7B6Bqo0wmo5RIpE8WShZGNcM06fV6ahdlzPlCQZ2UKX1jqpKpR9EOMSmTiT3Z2mZrc0N5lqRxhSJIqLS1samyKN5InwsWRXox6dYRgyvqIPxNgJPB9Xpd2u2WJhKlM1oGt7WxofXDQr6gDStifOV3cp9arabSJnxvZ2dHVU3sh4AgNk0kqVKpMjI6rPcRNe52OonaR7IYHbVFQiGqlareX+iFqJ44CbmvLHS5PEShkFdHI70gYlcFUEkyFApF5ZlyLaE/whcVtGx+UDVK2jXFOou0yIpIQ4cQOVGpibFxKkMVGo06a2trWn+UicqKC01wxEhKi6X2mJkpYAlnksE0mw0c22J0dATf81helM0LQmzLOkCxJyL2kxMTmqWQ/JmQXOF7MsFsToISdAIiMdXasFa+ZZGEpMqRPCssptls0ut2laCOjI4qvxLOWCwWlVt1ez29piyM8EBZFAF0QHOq1RpyyG/k89HRUSYmJpR827cr36nLl5UVVROxXlleZv7WnF5cUtQSgkiFZW19TaVrqFxOeFocKWB2JnkYkMSiprhqEX8x5J12GiY5TE1NEHg+83NzOqkBeZV7iNQKE5+antbry8TX1taVY+Xz8kQTtNFF3ldrVWZmZ8nnCzqx3d2dZIt1DLv1uoKkff5jozQbLQVfqIpoiYAu5LtWG6ZSGboNmKio2Ff5fHR0TIWj1WozMTHO2Pg4ubxsvxmU2fSxLL6qghhUSQbubO8oaGIjBKxqpaL6noREGQr5vKqc2BEnlS5N5Yph1kqbGOqYXq+jsaUYaUnZCF9YW1ml77ral1UqFjUVJG59uFZjZHRMUysidbtbEsB31YYKYLv1ZNVLQ2UFN5cv6HuZnKiTpJMb9QadbkdVTqRIgK/XGwqg5LnkXgJosVTS96LSYpvFsUkcLRX64ZFhXVAZo4xJzlWSLZ5XOxAlWSZ8KY7IZmTzuKHGXUATaSsXi7o6YiMkRhwYffVQUu3OJgRSWLlMVDmQuG8pxnou7WZDrykqKb8VNRBvWy4VNWDvdUVN+qrmQ5WKAqaxZUPaQF0FTF4iPa1WU+2JhE7ZXJ5ev6tSo5lRKdK2W+os5DflUol2u6OHqJ/MQXik2DzxoiK5Yu8kwyK2W76TDp1qVWytpwDKb0TrxKGIjU56XAMJuCXjFJF1EuMnfER6w8RTCMsWoykEUrlYICFT6iGFVIo6ahE4IX9CJ8Qgi5SJHet12vo7yTzISokHEmmWtInYDrfbTxbCtnUSYpvE64mnlt+rOpimSlO321HeJOospkAkM/Fy4pnR64idUyOfzdLv9VUYZDFyElEEoUptwui13SThlbInqttVSS6VRKKTuFpUVb2v51EopjzMFbIq5WwhdppilvbrWO1NFCTxmHwudinxRpLDl5SjPErGUpulJbowIX+aiJQJiKeU+EwYdByREzshZNAXGpOEUEITNFhPY887MaaB77qJF85kVHpE2mVRBBwBRK4lCyFHwqeExsgmiyTVLlIjbF48raicSorUIFKCq+RW+XnCGRNKAln1ygnd1ihGY0x5llBKK9xB46sE2fr8iiQ21H6JdDuqdLQMYkb9LiWt2q4uZFP7MiRKSB5ZIIPR3WTa+y/SmzxNKSmRJ5xPJyk9WJGw6+Q3t+8hT5IK0gBaJi+TSld9QJIH5FI4lAbwgzENAvrkGQrp5AfBy93zSALvJHJICijaNGQlTxDVcUqBOn3Wo9jhpAMx5fkDT6MlIZGeNDRKtqqlD+FRA5UCmj4yV1ZIckC3n4uULFuaLtKnoSpVGEQGkp1VsOSSuijyeMA0ekhDs7sDeu3YELXRuDWRBpFksY9yH5FcWQxtG0/BkmEmsbCAmUQpg7AtabFPFkCOJJORNp4kuCp4g+hAH5s1yHYkvTt3AqP0qSn6o3RPUnKFFPE7X6TLcvvEwSML0jvq10nIoptD0ngyif/uGuDgEZ/awXxnNQfPObv7Gjr5dLGUsUvDgzSNpPZrcK90BLfBULojZuQuyR4syO2nhN71YLUE7L8Hc/B18oS6//X6n0bg/wW6N9HN0J3gTgAAAABJRU5ErkJgg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0724" name="Picture 4" descr="CMR College of Pharmacy updated... - CMR College of Pharmacy"/>
          <p:cNvPicPr>
            <a:picLocks noChangeAspect="1" noChangeArrowheads="1"/>
          </p:cNvPicPr>
          <p:nvPr/>
        </p:nvPicPr>
        <p:blipFill>
          <a:blip r:embed="rId2"/>
          <a:srcRect/>
          <a:stretch>
            <a:fillRect/>
          </a:stretch>
        </p:blipFill>
        <p:spPr bwMode="auto">
          <a:xfrm>
            <a:off x="381000" y="152400"/>
            <a:ext cx="1295400" cy="1143000"/>
          </a:xfrm>
          <a:prstGeom prst="rect">
            <a:avLst/>
          </a:prstGeom>
          <a:noFill/>
        </p:spPr>
      </p:pic>
      <p:sp>
        <p:nvSpPr>
          <p:cNvPr id="30726" name="AutoShape 6" descr="CMRCET HYDERABAD - 2021 Admission Process, Ranking, Reviews, Affiliation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4DFFA99E-F018-8D26-1DF7-316E0E020E5A}"/>
              </a:ext>
            </a:extLst>
          </p:cNvPr>
          <p:cNvSpPr txBox="1"/>
          <p:nvPr/>
        </p:nvSpPr>
        <p:spPr>
          <a:xfrm>
            <a:off x="339398" y="2743200"/>
            <a:ext cx="5029200" cy="400110"/>
          </a:xfrm>
          <a:prstGeom prst="rect">
            <a:avLst/>
          </a:prstGeom>
          <a:noFill/>
        </p:spPr>
        <p:txBody>
          <a:bodyPr wrap="square" rtlCol="0">
            <a:spAutoFit/>
          </a:bodyPr>
          <a:lstStyle/>
          <a:p>
            <a:r>
              <a:rPr lang="en-US" sz="2000" b="1" dirty="0">
                <a:solidFill>
                  <a:schemeClr val="tx2">
                    <a:lumMod val="75000"/>
                  </a:schemeClr>
                </a:solidFill>
              </a:rPr>
              <a:t>Batch No.:74</a:t>
            </a:r>
          </a:p>
        </p:txBody>
      </p:sp>
      <p:sp>
        <p:nvSpPr>
          <p:cNvPr id="7" name="TextBox 6">
            <a:extLst>
              <a:ext uri="{FF2B5EF4-FFF2-40B4-BE49-F238E27FC236}">
                <a16:creationId xmlns:a16="http://schemas.microsoft.com/office/drawing/2014/main" id="{94997AF8-6B6E-040B-FF07-B099985FAFAE}"/>
              </a:ext>
            </a:extLst>
          </p:cNvPr>
          <p:cNvSpPr txBox="1"/>
          <p:nvPr/>
        </p:nvSpPr>
        <p:spPr>
          <a:xfrm>
            <a:off x="238539" y="6229290"/>
            <a:ext cx="8753061" cy="307777"/>
          </a:xfrm>
          <a:prstGeom prst="rect">
            <a:avLst/>
          </a:prstGeom>
          <a:noFill/>
        </p:spPr>
        <p:txBody>
          <a:bodyPr wrap="square" rtlCol="0">
            <a:spAutoFit/>
          </a:bodyPr>
          <a:lstStyle/>
          <a:p>
            <a:r>
              <a:rPr lang="en-US" sz="1400" b="1" dirty="0">
                <a:solidFill>
                  <a:schemeClr val="tx2">
                    <a:lumMod val="75000"/>
                  </a:schemeClr>
                </a:solidFill>
              </a:rPr>
              <a:t>Batch: 2020-2024 			                                                             Major Project Phase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IN"/>
          </a:p>
        </p:txBody>
      </p:sp>
      <p:sp>
        <p:nvSpPr>
          <p:cNvPr id="44" name="CustomShape 2"/>
          <p:cNvSpPr/>
          <p:nvPr/>
        </p:nvSpPr>
        <p:spPr>
          <a:xfrm>
            <a:off x="457200" y="457200"/>
            <a:ext cx="8381160" cy="577440"/>
          </a:xfrm>
          <a:prstGeom prst="rect">
            <a:avLst/>
          </a:prstGeom>
        </p:spPr>
        <p:txBody>
          <a:bodyPr lIns="90000" tIns="45000" rIns="90000" bIns="45000"/>
          <a:lstStyle/>
          <a:p>
            <a:pPr>
              <a:lnSpc>
                <a:spcPct val="100000"/>
              </a:lnSpc>
            </a:pPr>
            <a:r>
              <a:rPr lang="en-IN" sz="3200" b="1" dirty="0">
                <a:solidFill>
                  <a:srgbClr val="C00000"/>
                </a:solidFill>
                <a:latin typeface="Calibri"/>
              </a:rPr>
              <a:t>Outline</a:t>
            </a:r>
            <a:endParaRPr>
              <a:solidFill>
                <a:srgbClr val="C00000"/>
              </a:solidFill>
            </a:endParaRPr>
          </a:p>
        </p:txBody>
      </p:sp>
      <p:sp>
        <p:nvSpPr>
          <p:cNvPr id="45" name="CustomShape 3"/>
          <p:cNvSpPr/>
          <p:nvPr/>
        </p:nvSpPr>
        <p:spPr>
          <a:xfrm>
            <a:off x="914400" y="1639740"/>
            <a:ext cx="6477000" cy="4456260"/>
          </a:xfrm>
          <a:prstGeom prst="rect">
            <a:avLst/>
          </a:prstGeom>
        </p:spPr>
        <p:txBody>
          <a:bodyPr lIns="90000" tIns="45000" rIns="90000" bIns="45000"/>
          <a:lstStyle/>
          <a:p>
            <a:pPr>
              <a:lnSpc>
                <a:spcPct val="150000"/>
              </a:lnSpc>
              <a:buFont typeface="Arial" pitchFamily="34" charset="0"/>
              <a:buChar char="•"/>
            </a:pPr>
            <a:r>
              <a:rPr lang="en-IN" sz="2000" b="1" dirty="0">
                <a:solidFill>
                  <a:srgbClr val="000000"/>
                </a:solidFill>
                <a:latin typeface="Bookman Old Style" pitchFamily="18" charset="0"/>
              </a:rPr>
              <a:t> Abstract </a:t>
            </a:r>
          </a:p>
          <a:p>
            <a:pPr>
              <a:lnSpc>
                <a:spcPct val="150000"/>
              </a:lnSpc>
              <a:buFont typeface="Arial" pitchFamily="34" charset="0"/>
              <a:buChar char="•"/>
            </a:pPr>
            <a:r>
              <a:rPr lang="en-IN" sz="2000" b="1" dirty="0">
                <a:solidFill>
                  <a:srgbClr val="000000"/>
                </a:solidFill>
                <a:latin typeface="Bookman Old Style" pitchFamily="18" charset="0"/>
              </a:rPr>
              <a:t> Introduction </a:t>
            </a:r>
          </a:p>
          <a:p>
            <a:pPr>
              <a:lnSpc>
                <a:spcPct val="150000"/>
              </a:lnSpc>
              <a:buFont typeface="Arial"/>
              <a:buChar char="•"/>
            </a:pPr>
            <a:r>
              <a:rPr lang="en-IN" sz="2000" b="1" dirty="0">
                <a:solidFill>
                  <a:srgbClr val="000000"/>
                </a:solidFill>
                <a:latin typeface="Bookman Old Style" pitchFamily="18" charset="0"/>
              </a:rPr>
              <a:t> Research Objective </a:t>
            </a:r>
          </a:p>
          <a:p>
            <a:pPr>
              <a:lnSpc>
                <a:spcPct val="150000"/>
              </a:lnSpc>
              <a:buFont typeface="Arial" pitchFamily="34" charset="0"/>
              <a:buChar char="•"/>
            </a:pPr>
            <a:r>
              <a:rPr lang="en-IN" sz="2000" b="1" dirty="0">
                <a:solidFill>
                  <a:srgbClr val="000000"/>
                </a:solidFill>
                <a:latin typeface="Bookman Old Style" pitchFamily="18" charset="0"/>
              </a:rPr>
              <a:t> Problem Definition</a:t>
            </a:r>
          </a:p>
          <a:p>
            <a:pPr>
              <a:lnSpc>
                <a:spcPct val="150000"/>
              </a:lnSpc>
              <a:buFont typeface="Arial" pitchFamily="34" charset="0"/>
              <a:buChar char="•"/>
            </a:pPr>
            <a:r>
              <a:rPr lang="en-IN" sz="2000" b="1" dirty="0">
                <a:solidFill>
                  <a:srgbClr val="000000"/>
                </a:solidFill>
                <a:latin typeface="Bookman Old Style" pitchFamily="18" charset="0"/>
              </a:rPr>
              <a:t> Scope of the Project</a:t>
            </a:r>
          </a:p>
          <a:p>
            <a:pPr>
              <a:lnSpc>
                <a:spcPct val="150000"/>
              </a:lnSpc>
              <a:buFont typeface="Arial" pitchFamily="34" charset="0"/>
              <a:buChar char="•"/>
            </a:pPr>
            <a:r>
              <a:rPr lang="en-IN" sz="2000" b="1" dirty="0">
                <a:solidFill>
                  <a:srgbClr val="000000"/>
                </a:solidFill>
                <a:latin typeface="Bookman Old Style" pitchFamily="18" charset="0"/>
              </a:rPr>
              <a:t> Literature Review</a:t>
            </a:r>
          </a:p>
          <a:p>
            <a:pPr>
              <a:lnSpc>
                <a:spcPct val="150000"/>
              </a:lnSpc>
              <a:buFont typeface="Arial" pitchFamily="34" charset="0"/>
              <a:buChar char="•"/>
            </a:pPr>
            <a:r>
              <a:rPr lang="en-IN" sz="2000" b="1" dirty="0">
                <a:solidFill>
                  <a:srgbClr val="000000"/>
                </a:solidFill>
                <a:latin typeface="Bookman Old Style" pitchFamily="18" charset="0"/>
              </a:rPr>
              <a:t> Implementation of Existing system</a:t>
            </a:r>
          </a:p>
          <a:p>
            <a:pPr>
              <a:lnSpc>
                <a:spcPct val="150000"/>
              </a:lnSpc>
              <a:buFont typeface="Arial" pitchFamily="34" charset="0"/>
              <a:buChar char="•"/>
            </a:pPr>
            <a:r>
              <a:rPr lang="en-IN" sz="2000" b="1" dirty="0">
                <a:solidFill>
                  <a:srgbClr val="000000"/>
                </a:solidFill>
                <a:latin typeface="Bookman Old Style" pitchFamily="18" charset="0"/>
              </a:rPr>
              <a:t> Conclusion</a:t>
            </a:r>
          </a:p>
          <a:p>
            <a:pPr>
              <a:lnSpc>
                <a:spcPct val="150000"/>
              </a:lnSpc>
              <a:buFont typeface="Arial" pitchFamily="34" charset="0"/>
              <a:buChar char="•"/>
            </a:pPr>
            <a:r>
              <a:rPr lang="en-IN" sz="2000" b="1" dirty="0">
                <a:solidFill>
                  <a:srgbClr val="000000"/>
                </a:solidFill>
                <a:latin typeface="Bookman Old Style" pitchFamily="18" charset="0"/>
              </a:rPr>
              <a:t> References</a:t>
            </a:r>
            <a:r>
              <a:rPr lang="en-IN" sz="2800" b="1" dirty="0">
                <a:solidFill>
                  <a:srgbClr val="000000"/>
                </a:solidFill>
                <a:latin typeface="Calibri"/>
              </a:rPr>
              <a:t>	</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533520" y="4267080"/>
            <a:ext cx="8076600" cy="75600"/>
          </a:xfrm>
          <a:prstGeom prst="rect">
            <a:avLst/>
          </a:prstGeom>
          <a:solidFill>
            <a:srgbClr val="7030A0"/>
          </a:solidFill>
          <a:ln w="25560">
            <a:solidFill>
              <a:srgbClr val="3A5F8B"/>
            </a:solidFill>
            <a:round/>
          </a:ln>
        </p:spPr>
        <p:txBody>
          <a:bodyPr/>
          <a:lstStyle/>
          <a:p>
            <a:endParaRPr lang="en-IN"/>
          </a:p>
        </p:txBody>
      </p:sp>
      <p:sp>
        <p:nvSpPr>
          <p:cNvPr id="83" name="CustomShape 2"/>
          <p:cNvSpPr/>
          <p:nvPr/>
        </p:nvSpPr>
        <p:spPr>
          <a:xfrm>
            <a:off x="457200" y="3574080"/>
            <a:ext cx="815256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pitchFamily="34" charset="0"/>
              </a:rPr>
              <a:t>Abstract </a:t>
            </a:r>
            <a:endParaRPr>
              <a:latin typeface="Arial Black" pitchFamily="34" charset="0"/>
            </a:endParaRPr>
          </a:p>
        </p:txBody>
      </p:sp>
      <p:sp>
        <p:nvSpPr>
          <p:cNvPr id="84" name="CustomShape 3"/>
          <p:cNvSpPr/>
          <p:nvPr/>
        </p:nvSpPr>
        <p:spPr>
          <a:xfrm>
            <a:off x="685800" y="1295280"/>
            <a:ext cx="7619400" cy="775800"/>
          </a:xfrm>
          <a:prstGeom prst="rect">
            <a:avLst/>
          </a:prstGeom>
        </p:spPr>
        <p:txBody>
          <a:bodyPr lIns="90000" tIns="45000" rIns="90000" bIns="45000"/>
          <a:lstStyle/>
          <a:p>
            <a:pPr>
              <a:lnSpc>
                <a:spcPct val="150000"/>
              </a:lnSpc>
            </a:pPr>
            <a:endParaRPr/>
          </a:p>
          <a:p>
            <a:pPr>
              <a:lnSpc>
                <a:spcPct val="100000"/>
              </a:lnSpc>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57200" y="1066800"/>
            <a:ext cx="8381160" cy="75600"/>
          </a:xfrm>
          <a:prstGeom prst="rect">
            <a:avLst/>
          </a:prstGeom>
          <a:solidFill>
            <a:srgbClr val="7030A0"/>
          </a:solidFill>
          <a:ln w="25560">
            <a:solidFill>
              <a:srgbClr val="3A5F8B"/>
            </a:solidFill>
            <a:round/>
          </a:ln>
        </p:spPr>
        <p:txBody>
          <a:bodyPr/>
          <a:lstStyle/>
          <a:p>
            <a:endParaRPr lang="en-IN"/>
          </a:p>
        </p:txBody>
      </p:sp>
      <p:sp>
        <p:nvSpPr>
          <p:cNvPr id="5" name="TextBox 4"/>
          <p:cNvSpPr txBox="1"/>
          <p:nvPr/>
        </p:nvSpPr>
        <p:spPr>
          <a:xfrm>
            <a:off x="533400" y="519825"/>
            <a:ext cx="3657600" cy="584775"/>
          </a:xfrm>
          <a:prstGeom prst="rect">
            <a:avLst/>
          </a:prstGeom>
          <a:noFill/>
        </p:spPr>
        <p:txBody>
          <a:bodyPr wrap="square" rtlCol="0">
            <a:spAutoFit/>
          </a:bodyPr>
          <a:lstStyle/>
          <a:p>
            <a:r>
              <a:rPr lang="en-US" sz="3200" b="1" dirty="0">
                <a:solidFill>
                  <a:srgbClr val="C00000"/>
                </a:solidFill>
                <a:latin typeface="Calibri" pitchFamily="34" charset="0"/>
              </a:rPr>
              <a:t>ABSTRACT</a:t>
            </a:r>
          </a:p>
        </p:txBody>
      </p:sp>
      <p:sp>
        <p:nvSpPr>
          <p:cNvPr id="3" name="TextBox 2">
            <a:extLst>
              <a:ext uri="{FF2B5EF4-FFF2-40B4-BE49-F238E27FC236}">
                <a16:creationId xmlns:a16="http://schemas.microsoft.com/office/drawing/2014/main" id="{1EAF617A-5DBD-7BC6-3389-48782333C497}"/>
              </a:ext>
            </a:extLst>
          </p:cNvPr>
          <p:cNvSpPr txBox="1"/>
          <p:nvPr/>
        </p:nvSpPr>
        <p:spPr>
          <a:xfrm>
            <a:off x="381000" y="-631294"/>
            <a:ext cx="8457360" cy="6966010"/>
          </a:xfrm>
          <a:prstGeom prst="rect">
            <a:avLst/>
          </a:prstGeom>
          <a:noFill/>
        </p:spPr>
        <p:txBody>
          <a:bodyPr wrap="square">
            <a:spAutoFit/>
          </a:bodyPr>
          <a:lstStyle/>
          <a:p>
            <a:endParaRPr lang="en-US" dirty="0"/>
          </a:p>
          <a:p>
            <a:endParaRPr lang="en-US" dirty="0"/>
          </a:p>
          <a:p>
            <a:endParaRPr lang="en-US" dirty="0"/>
          </a:p>
          <a:p>
            <a:endParaRPr lang="en-US" dirty="0"/>
          </a:p>
          <a:p>
            <a:endParaRPr lang="en-US" dirty="0"/>
          </a:p>
          <a:p>
            <a:endParaRPr lang="en-US" dirty="0"/>
          </a:p>
          <a:p>
            <a:endParaRPr lang="en-US" dirty="0"/>
          </a:p>
          <a:p>
            <a:pPr algn="just">
              <a:lnSpc>
                <a:spcPct val="150000"/>
              </a:lnSpc>
            </a:pPr>
            <a:r>
              <a:rPr lang="en-US" dirty="0"/>
              <a:t>Software development effort estimation is considered a fundamental task for software development life cycle as well as for managing project cost, time and quality. Therefore, accurate estimation is a substantial factor in projects success and reducing the risks. In recent years, software effort estimation has received a considerable amount of attention from researchers and became a challenge for software industry. In this project, enhancement of Firefly Algorithm is proposed as a metaheuristic optimization method for optimizing the parameters of three COCOMO-based models. These models include the basic COCOMO model and other two models proposed in the literature as extensions of the basic COCOMO model. The developed estimation models are evaluated using different evaluation metrics are Root Mean Square Error (RMSE) and Mean Magnitude Relative Error (MMRE).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CustomShape 1"/>
          <p:cNvSpPr/>
          <p:nvPr/>
        </p:nvSpPr>
        <p:spPr>
          <a:xfrm>
            <a:off x="228600" y="4267200"/>
            <a:ext cx="8381520" cy="75480"/>
          </a:xfrm>
          <a:prstGeom prst="rect">
            <a:avLst/>
          </a:prstGeom>
          <a:solidFill>
            <a:srgbClr val="7030A0"/>
          </a:solidFill>
          <a:ln w="25560">
            <a:solidFill>
              <a:srgbClr val="3A5F8B"/>
            </a:solidFill>
            <a:round/>
          </a:ln>
        </p:spPr>
        <p:txBody>
          <a:bodyPr/>
          <a:lstStyle/>
          <a:p>
            <a:endParaRPr lang="en-IN"/>
          </a:p>
        </p:txBody>
      </p:sp>
      <p:sp>
        <p:nvSpPr>
          <p:cNvPr id="47" name="CustomShape 2"/>
          <p:cNvSpPr/>
          <p:nvPr/>
        </p:nvSpPr>
        <p:spPr>
          <a:xfrm>
            <a:off x="-914400" y="3429000"/>
            <a:ext cx="1089660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a:rPr>
              <a:t>I</a:t>
            </a:r>
            <a:r>
              <a:rPr lang="en-IN" sz="3200" b="1" dirty="0">
                <a:solidFill>
                  <a:srgbClr val="000000"/>
                </a:solidFill>
                <a:latin typeface="Arial Black"/>
              </a:rPr>
              <a:t>NTRODUCTION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IN"/>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IN" sz="3200" b="1" dirty="0">
                <a:solidFill>
                  <a:srgbClr val="C00000"/>
                </a:solidFill>
              </a:rPr>
              <a:t>Introduction</a:t>
            </a:r>
            <a:endParaRPr dirty="0">
              <a:solidFill>
                <a:srgbClr val="C00000"/>
              </a:solidFill>
            </a:endParaRPr>
          </a:p>
        </p:txBody>
      </p:sp>
      <p:sp>
        <p:nvSpPr>
          <p:cNvPr id="5" name="TextBox 4"/>
          <p:cNvSpPr txBox="1"/>
          <p:nvPr/>
        </p:nvSpPr>
        <p:spPr>
          <a:xfrm>
            <a:off x="304800" y="1447800"/>
            <a:ext cx="8686800" cy="3365024"/>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q"/>
            </a:pPr>
            <a:r>
              <a:rPr lang="en-US" dirty="0"/>
              <a:t>Software effort estimation is a critical task in the software development process, as it helps project managers and stakeholders plan resources, timeframes, and budgets accurately. </a:t>
            </a:r>
          </a:p>
          <a:p>
            <a:pPr marL="342900" indent="-342900" algn="just">
              <a:lnSpc>
                <a:spcPct val="150000"/>
              </a:lnSpc>
              <a:buFont typeface="Wingdings" panose="05000000000000000000" pitchFamily="2" charset="2"/>
              <a:buChar char="q"/>
            </a:pPr>
            <a:r>
              <a:rPr lang="en-US" dirty="0"/>
              <a:t>COCOMO (Constructive Cost Model) is a widely recognized software effort estimation model that provides a structured framework for estimating the effort required to develop software. </a:t>
            </a:r>
          </a:p>
          <a:p>
            <a:pPr marL="342900" indent="-342900" algn="just">
              <a:lnSpc>
                <a:spcPct val="150000"/>
              </a:lnSpc>
              <a:buFont typeface="Wingdings" panose="05000000000000000000" pitchFamily="2" charset="2"/>
              <a:buChar char="q"/>
            </a:pPr>
            <a:r>
              <a:rPr lang="en-US" dirty="0"/>
              <a:t>The Firefly Algorithm is a nature-inspired optimization algorithm that can be used to enhance the accuracy of effort estimation models like COCOMO.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533520" y="4267080"/>
            <a:ext cx="8076600" cy="75600"/>
          </a:xfrm>
          <a:prstGeom prst="rect">
            <a:avLst/>
          </a:prstGeom>
          <a:solidFill>
            <a:srgbClr val="7030A0"/>
          </a:solidFill>
          <a:ln w="25560">
            <a:solidFill>
              <a:srgbClr val="3A5F8B"/>
            </a:solidFill>
            <a:round/>
          </a:ln>
        </p:spPr>
        <p:txBody>
          <a:bodyPr/>
          <a:lstStyle/>
          <a:p>
            <a:endParaRPr lang="en-IN"/>
          </a:p>
        </p:txBody>
      </p:sp>
      <p:sp>
        <p:nvSpPr>
          <p:cNvPr id="83" name="CustomShape 2"/>
          <p:cNvSpPr/>
          <p:nvPr/>
        </p:nvSpPr>
        <p:spPr>
          <a:xfrm>
            <a:off x="457200" y="3574080"/>
            <a:ext cx="8152560" cy="760320"/>
          </a:xfrm>
          <a:prstGeom prst="rect">
            <a:avLst/>
          </a:prstGeom>
        </p:spPr>
        <p:txBody>
          <a:bodyPr lIns="90000" tIns="45000" rIns="90000" bIns="45000"/>
          <a:lstStyle/>
          <a:p>
            <a:pPr algn="r">
              <a:lnSpc>
                <a:spcPct val="100000"/>
              </a:lnSpc>
            </a:pPr>
            <a:r>
              <a:rPr lang="en-IN" sz="4400" b="1" dirty="0">
                <a:solidFill>
                  <a:srgbClr val="000000"/>
                </a:solidFill>
                <a:latin typeface="Arial Black" pitchFamily="34" charset="0"/>
              </a:rPr>
              <a:t>Research Objective </a:t>
            </a:r>
          </a:p>
          <a:p>
            <a:pPr algn="r">
              <a:lnSpc>
                <a:spcPct val="100000"/>
              </a:lnSpc>
            </a:pPr>
            <a:r>
              <a:rPr lang="en-IN" sz="4400" b="1" dirty="0">
                <a:solidFill>
                  <a:srgbClr val="000000"/>
                </a:solidFill>
                <a:latin typeface="Arial Black" pitchFamily="34" charset="0"/>
              </a:rPr>
              <a:t> </a:t>
            </a:r>
            <a:endParaRPr>
              <a:latin typeface="Arial Black" pitchFamily="34" charset="0"/>
            </a:endParaRPr>
          </a:p>
        </p:txBody>
      </p:sp>
      <p:sp>
        <p:nvSpPr>
          <p:cNvPr id="84" name="CustomShape 3"/>
          <p:cNvSpPr/>
          <p:nvPr/>
        </p:nvSpPr>
        <p:spPr>
          <a:xfrm>
            <a:off x="685800" y="1295280"/>
            <a:ext cx="7619400" cy="775800"/>
          </a:xfrm>
          <a:prstGeom prst="rect">
            <a:avLst/>
          </a:prstGeom>
        </p:spPr>
        <p:txBody>
          <a:bodyPr lIns="90000" tIns="45000" rIns="90000" bIns="45000"/>
          <a:lstStyle/>
          <a:p>
            <a:pPr>
              <a:lnSpc>
                <a:spcPct val="150000"/>
              </a:lnSpc>
            </a:pPr>
            <a:endParaRPr/>
          </a:p>
          <a:p>
            <a:pPr>
              <a:lnSpc>
                <a:spcPct val="100000"/>
              </a:lnSpc>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stomShape 1"/>
          <p:cNvSpPr/>
          <p:nvPr/>
        </p:nvSpPr>
        <p:spPr>
          <a:xfrm>
            <a:off x="457200" y="1066800"/>
            <a:ext cx="8381160" cy="75600"/>
          </a:xfrm>
          <a:prstGeom prst="rect">
            <a:avLst/>
          </a:prstGeom>
          <a:solidFill>
            <a:srgbClr val="7030A0"/>
          </a:solidFill>
          <a:ln w="25560">
            <a:solidFill>
              <a:srgbClr val="3A5F8B"/>
            </a:solidFill>
            <a:round/>
          </a:ln>
        </p:spPr>
        <p:txBody>
          <a:bodyPr/>
          <a:lstStyle/>
          <a:p>
            <a:endParaRPr lang="en-IN"/>
          </a:p>
        </p:txBody>
      </p:sp>
      <p:sp>
        <p:nvSpPr>
          <p:cNvPr id="7" name="TextBox 6"/>
          <p:cNvSpPr txBox="1"/>
          <p:nvPr/>
        </p:nvSpPr>
        <p:spPr>
          <a:xfrm>
            <a:off x="304800" y="457200"/>
            <a:ext cx="4648200" cy="584775"/>
          </a:xfrm>
          <a:prstGeom prst="rect">
            <a:avLst/>
          </a:prstGeom>
          <a:noFill/>
        </p:spPr>
        <p:txBody>
          <a:bodyPr wrap="square" rtlCol="0">
            <a:spAutoFit/>
          </a:bodyPr>
          <a:lstStyle/>
          <a:p>
            <a:r>
              <a:rPr lang="en-US" sz="3200" b="1" dirty="0">
                <a:solidFill>
                  <a:srgbClr val="C00000"/>
                </a:solidFill>
                <a:latin typeface="+mj-lt"/>
              </a:rPr>
              <a:t>Research objective</a:t>
            </a:r>
          </a:p>
        </p:txBody>
      </p:sp>
      <p:sp>
        <p:nvSpPr>
          <p:cNvPr id="3" name="TextBox 2">
            <a:extLst>
              <a:ext uri="{FF2B5EF4-FFF2-40B4-BE49-F238E27FC236}">
                <a16:creationId xmlns:a16="http://schemas.microsoft.com/office/drawing/2014/main" id="{B8E1266C-A480-0791-B5F3-25DA89372728}"/>
              </a:ext>
            </a:extLst>
          </p:cNvPr>
          <p:cNvSpPr txBox="1"/>
          <p:nvPr/>
        </p:nvSpPr>
        <p:spPr>
          <a:xfrm>
            <a:off x="457200" y="1371600"/>
            <a:ext cx="8381160" cy="1287532"/>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endParaRPr lang="en-US" b="0" i="0" dirty="0">
              <a:solidFill>
                <a:srgbClr val="374151"/>
              </a:solidFill>
              <a:effectLst/>
            </a:endParaRPr>
          </a:p>
          <a:p>
            <a:pPr marL="285750" indent="-285750" algn="just">
              <a:lnSpc>
                <a:spcPct val="150000"/>
              </a:lnSpc>
              <a:buFont typeface="Wingdings" panose="05000000000000000000" pitchFamily="2" charset="2"/>
              <a:buChar char="Ø"/>
            </a:pPr>
            <a:r>
              <a:rPr lang="en-US" b="0" i="0" dirty="0">
                <a:solidFill>
                  <a:srgbClr val="374151"/>
                </a:solidFill>
                <a:effectLst/>
              </a:rPr>
              <a:t> Enhancing COCOMO-based Models Using Firefly Algorithm</a:t>
            </a:r>
          </a:p>
          <a:p>
            <a:pPr marL="285750" indent="-285750" algn="just">
              <a:lnSpc>
                <a:spcPct val="150000"/>
              </a:lnSpc>
              <a:buFont typeface="Wingdings" panose="05000000000000000000" pitchFamily="2" charset="2"/>
              <a:buChar char="Ø"/>
            </a:pPr>
            <a:r>
              <a:rPr lang="en-US" b="0" i="0" dirty="0">
                <a:solidFill>
                  <a:srgbClr val="374151"/>
                </a:solidFill>
                <a:effectLst/>
              </a:rPr>
              <a:t> Improving Accuracy, Reducing Risks, and Enhancing Project Success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533520" y="4267080"/>
            <a:ext cx="8076600" cy="75600"/>
          </a:xfrm>
          <a:prstGeom prst="rect">
            <a:avLst/>
          </a:prstGeom>
          <a:solidFill>
            <a:srgbClr val="7030A0"/>
          </a:solidFill>
          <a:ln w="25560">
            <a:solidFill>
              <a:srgbClr val="3A5F8B"/>
            </a:solidFill>
            <a:round/>
          </a:ln>
        </p:spPr>
        <p:txBody>
          <a:bodyPr/>
          <a:lstStyle/>
          <a:p>
            <a:endParaRPr lang="en-IN"/>
          </a:p>
        </p:txBody>
      </p:sp>
      <p:sp>
        <p:nvSpPr>
          <p:cNvPr id="83" name="CustomShape 2"/>
          <p:cNvSpPr/>
          <p:nvPr/>
        </p:nvSpPr>
        <p:spPr>
          <a:xfrm>
            <a:off x="457200" y="3574080"/>
            <a:ext cx="815256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pitchFamily="34" charset="0"/>
              </a:rPr>
              <a:t>Problem Definition </a:t>
            </a:r>
            <a:endParaRPr dirty="0">
              <a:latin typeface="Arial Black" pitchFamily="34" charset="0"/>
            </a:endParaRPr>
          </a:p>
        </p:txBody>
      </p:sp>
      <p:sp>
        <p:nvSpPr>
          <p:cNvPr id="84" name="CustomShape 3"/>
          <p:cNvSpPr/>
          <p:nvPr/>
        </p:nvSpPr>
        <p:spPr>
          <a:xfrm>
            <a:off x="685800" y="1357800"/>
            <a:ext cx="7619400" cy="775800"/>
          </a:xfrm>
          <a:prstGeom prst="rect">
            <a:avLst/>
          </a:prstGeom>
        </p:spPr>
        <p:txBody>
          <a:bodyPr lIns="90000" tIns="45000" rIns="90000" bIns="45000"/>
          <a:lstStyle/>
          <a:p>
            <a:pPr>
              <a:lnSpc>
                <a:spcPct val="150000"/>
              </a:lnSpc>
            </a:pPr>
            <a:endParaRPr/>
          </a:p>
          <a:p>
            <a:pPr>
              <a:lnSpc>
                <a:spcPct val="100000"/>
              </a:lnSpc>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57200" y="1066800"/>
            <a:ext cx="8381160" cy="75600"/>
          </a:xfrm>
          <a:prstGeom prst="rect">
            <a:avLst/>
          </a:prstGeom>
          <a:solidFill>
            <a:srgbClr val="7030A0"/>
          </a:solidFill>
          <a:ln w="25560">
            <a:solidFill>
              <a:srgbClr val="3A5F8B"/>
            </a:solidFill>
            <a:round/>
          </a:ln>
        </p:spPr>
        <p:txBody>
          <a:bodyPr/>
          <a:lstStyle/>
          <a:p>
            <a:endParaRPr lang="en-IN"/>
          </a:p>
        </p:txBody>
      </p:sp>
      <p:sp>
        <p:nvSpPr>
          <p:cNvPr id="3" name="TextBox 2"/>
          <p:cNvSpPr txBox="1"/>
          <p:nvPr/>
        </p:nvSpPr>
        <p:spPr>
          <a:xfrm>
            <a:off x="304800" y="457200"/>
            <a:ext cx="3962400" cy="584775"/>
          </a:xfrm>
          <a:prstGeom prst="rect">
            <a:avLst/>
          </a:prstGeom>
          <a:noFill/>
        </p:spPr>
        <p:txBody>
          <a:bodyPr wrap="square" rtlCol="0">
            <a:spAutoFit/>
          </a:bodyPr>
          <a:lstStyle/>
          <a:p>
            <a:r>
              <a:rPr lang="en-US" sz="3200" b="1" dirty="0">
                <a:solidFill>
                  <a:srgbClr val="C00000"/>
                </a:solidFill>
                <a:latin typeface="Calibri" pitchFamily="34" charset="0"/>
              </a:rPr>
              <a:t>Problem Definition</a:t>
            </a:r>
          </a:p>
        </p:txBody>
      </p:sp>
      <p:sp>
        <p:nvSpPr>
          <p:cNvPr id="5" name="TextBox 4">
            <a:extLst>
              <a:ext uri="{FF2B5EF4-FFF2-40B4-BE49-F238E27FC236}">
                <a16:creationId xmlns:a16="http://schemas.microsoft.com/office/drawing/2014/main" id="{8F5667EB-32B8-30BC-0151-634A039FCE46}"/>
              </a:ext>
            </a:extLst>
          </p:cNvPr>
          <p:cNvSpPr txBox="1"/>
          <p:nvPr/>
        </p:nvSpPr>
        <p:spPr>
          <a:xfrm>
            <a:off x="457200" y="1371000"/>
            <a:ext cx="8381160" cy="2534027"/>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The problem of optimized software effort estimation involves accurately predicting the resources, time, and cost required for the successful completion of a software development project. This is crucial for project planning, resource allocation, and meeting stakeholder expectations. The objective is to create a model or system that can provide reliable estimates with minimal errors and resource waste.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533520" y="4267080"/>
            <a:ext cx="8076600" cy="75600"/>
          </a:xfrm>
          <a:prstGeom prst="rect">
            <a:avLst/>
          </a:prstGeom>
          <a:solidFill>
            <a:srgbClr val="7030A0"/>
          </a:solidFill>
          <a:ln w="25560">
            <a:solidFill>
              <a:srgbClr val="3A5F8B"/>
            </a:solidFill>
            <a:round/>
          </a:ln>
        </p:spPr>
        <p:txBody>
          <a:bodyPr/>
          <a:lstStyle/>
          <a:p>
            <a:endParaRPr lang="en-IN"/>
          </a:p>
        </p:txBody>
      </p:sp>
      <p:sp>
        <p:nvSpPr>
          <p:cNvPr id="83" name="CustomShape 2"/>
          <p:cNvSpPr/>
          <p:nvPr/>
        </p:nvSpPr>
        <p:spPr>
          <a:xfrm>
            <a:off x="457200" y="3581400"/>
            <a:ext cx="8152560" cy="760320"/>
          </a:xfrm>
          <a:prstGeom prst="rect">
            <a:avLst/>
          </a:prstGeom>
        </p:spPr>
        <p:txBody>
          <a:bodyPr lIns="90000" tIns="45000" rIns="90000" bIns="45000"/>
          <a:lstStyle/>
          <a:p>
            <a:pPr algn="r">
              <a:lnSpc>
                <a:spcPct val="100000"/>
              </a:lnSpc>
            </a:pPr>
            <a:r>
              <a:rPr lang="en-IN" sz="4400" b="1" dirty="0">
                <a:solidFill>
                  <a:srgbClr val="000000"/>
                </a:solidFill>
                <a:latin typeface="Arial Black"/>
              </a:rPr>
              <a:t>Scope of the Project</a:t>
            </a:r>
            <a:endParaRPr dirty="0"/>
          </a:p>
        </p:txBody>
      </p:sp>
      <p:sp>
        <p:nvSpPr>
          <p:cNvPr id="84" name="CustomShape 3"/>
          <p:cNvSpPr/>
          <p:nvPr/>
        </p:nvSpPr>
        <p:spPr>
          <a:xfrm>
            <a:off x="685800" y="1295280"/>
            <a:ext cx="7619400" cy="775800"/>
          </a:xfrm>
          <a:prstGeom prst="rect">
            <a:avLst/>
          </a:prstGeom>
        </p:spPr>
        <p:txBody>
          <a:bodyPr lIns="90000" tIns="45000" rIns="90000" bIns="45000"/>
          <a:lstStyle/>
          <a:p>
            <a:pPr>
              <a:lnSpc>
                <a:spcPct val="150000"/>
              </a:lnSpc>
            </a:pPr>
            <a:endParaRPr/>
          </a:p>
          <a:p>
            <a:pPr>
              <a:lnSpc>
                <a:spcPct val="100000"/>
              </a:lnSpc>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57200" y="1066800"/>
            <a:ext cx="8381160" cy="75600"/>
          </a:xfrm>
          <a:prstGeom prst="rect">
            <a:avLst/>
          </a:prstGeom>
          <a:solidFill>
            <a:srgbClr val="7030A0"/>
          </a:solidFill>
          <a:ln w="25560">
            <a:solidFill>
              <a:srgbClr val="3A5F8B"/>
            </a:solidFill>
            <a:round/>
          </a:ln>
        </p:spPr>
        <p:txBody>
          <a:bodyPr/>
          <a:lstStyle/>
          <a:p>
            <a:endParaRPr lang="en-IN"/>
          </a:p>
        </p:txBody>
      </p:sp>
      <p:sp>
        <p:nvSpPr>
          <p:cNvPr id="3" name="TextBox 2"/>
          <p:cNvSpPr txBox="1"/>
          <p:nvPr/>
        </p:nvSpPr>
        <p:spPr>
          <a:xfrm>
            <a:off x="304800" y="457200"/>
            <a:ext cx="4267200" cy="523220"/>
          </a:xfrm>
          <a:prstGeom prst="rect">
            <a:avLst/>
          </a:prstGeom>
          <a:noFill/>
        </p:spPr>
        <p:txBody>
          <a:bodyPr wrap="square" rtlCol="0">
            <a:spAutoFit/>
          </a:bodyPr>
          <a:lstStyle/>
          <a:p>
            <a:pPr algn="r">
              <a:lnSpc>
                <a:spcPct val="100000"/>
              </a:lnSpc>
            </a:pPr>
            <a:r>
              <a:rPr lang="en-IN" sz="2800" b="1" dirty="0">
                <a:solidFill>
                  <a:srgbClr val="FF0000"/>
                </a:solidFill>
                <a:latin typeface="+mj-lt"/>
              </a:rPr>
              <a:t>Scope of the Project</a:t>
            </a:r>
            <a:endParaRPr lang="en-IN" sz="2800" dirty="0">
              <a:solidFill>
                <a:srgbClr val="FF0000"/>
              </a:solidFill>
              <a:latin typeface="+mj-lt"/>
            </a:endParaRPr>
          </a:p>
        </p:txBody>
      </p:sp>
      <p:sp>
        <p:nvSpPr>
          <p:cNvPr id="5" name="TextBox 4">
            <a:extLst>
              <a:ext uri="{FF2B5EF4-FFF2-40B4-BE49-F238E27FC236}">
                <a16:creationId xmlns:a16="http://schemas.microsoft.com/office/drawing/2014/main" id="{99C51517-32EA-9956-6925-DFD21DE75D1C}"/>
              </a:ext>
            </a:extLst>
          </p:cNvPr>
          <p:cNvSpPr txBox="1"/>
          <p:nvPr/>
        </p:nvSpPr>
        <p:spPr>
          <a:xfrm>
            <a:off x="457200" y="1228781"/>
            <a:ext cx="8381160" cy="3780522"/>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b="1" i="0" dirty="0">
                <a:solidFill>
                  <a:srgbClr val="374151"/>
                </a:solidFill>
                <a:effectLst/>
              </a:rPr>
              <a:t>Enhancement of COCOMO Models:</a:t>
            </a:r>
            <a:r>
              <a:rPr lang="en-US" b="0" i="0" dirty="0">
                <a:solidFill>
                  <a:srgbClr val="374151"/>
                </a:solidFill>
                <a:effectLst/>
              </a:rPr>
              <a:t> Optimize parameters of basic and extended COCOMO models using the Firefly Algorithm for accurate software effort estimation.</a:t>
            </a:r>
          </a:p>
          <a:p>
            <a:pPr marL="285750" indent="-285750" algn="just">
              <a:lnSpc>
                <a:spcPct val="150000"/>
              </a:lnSpc>
              <a:buFont typeface="Wingdings" panose="05000000000000000000" pitchFamily="2" charset="2"/>
              <a:buChar char="Ø"/>
            </a:pPr>
            <a:r>
              <a:rPr lang="en-US" b="1" i="0" dirty="0">
                <a:solidFill>
                  <a:srgbClr val="374151"/>
                </a:solidFill>
                <a:effectLst/>
              </a:rPr>
              <a:t>Evaluation and Comparison:</a:t>
            </a:r>
            <a:r>
              <a:rPr lang="en-US" b="0" i="0" dirty="0">
                <a:solidFill>
                  <a:srgbClr val="374151"/>
                </a:solidFill>
                <a:effectLst/>
              </a:rPr>
              <a:t> Evaluate enhanced models using RMSE and MMRE metrics, comparing them with traditional COCOMO models, and document the process comprehensively.</a:t>
            </a:r>
          </a:p>
          <a:p>
            <a:pPr marL="285750" indent="-285750" algn="just">
              <a:lnSpc>
                <a:spcPct val="150000"/>
              </a:lnSpc>
              <a:buFont typeface="Wingdings" panose="05000000000000000000" pitchFamily="2" charset="2"/>
              <a:buChar char="Ø"/>
            </a:pPr>
            <a:r>
              <a:rPr lang="en-US" b="1" i="0" dirty="0">
                <a:solidFill>
                  <a:srgbClr val="374151"/>
                </a:solidFill>
                <a:effectLst/>
              </a:rPr>
              <a:t>Future Recommendations:</a:t>
            </a:r>
            <a:r>
              <a:rPr lang="en-US" b="0" i="0" dirty="0">
                <a:solidFill>
                  <a:srgbClr val="374151"/>
                </a:solidFill>
                <a:effectLst/>
              </a:rPr>
              <a:t> Provide insights into limitations, suggesting avenues for future research, and outlining practical applications for the enhanced models in real-world software projects.</a:t>
            </a:r>
          </a:p>
        </p:txBody>
      </p:sp>
    </p:spTree>
    <p:extLst>
      <p:ext uri="{BB962C8B-B14F-4D97-AF65-F5344CB8AC3E}">
        <p14:creationId xmlns:p14="http://schemas.microsoft.com/office/powerpoint/2010/main" val="1896597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533520" y="4267080"/>
            <a:ext cx="8076600" cy="75600"/>
          </a:xfrm>
          <a:prstGeom prst="rect">
            <a:avLst/>
          </a:prstGeom>
          <a:solidFill>
            <a:srgbClr val="7030A0"/>
          </a:solidFill>
          <a:ln w="25560">
            <a:solidFill>
              <a:srgbClr val="3A5F8B"/>
            </a:solidFill>
            <a:round/>
          </a:ln>
        </p:spPr>
        <p:txBody>
          <a:bodyPr/>
          <a:lstStyle/>
          <a:p>
            <a:endParaRPr lang="en-IN"/>
          </a:p>
        </p:txBody>
      </p:sp>
      <p:sp>
        <p:nvSpPr>
          <p:cNvPr id="83" name="CustomShape 2"/>
          <p:cNvSpPr/>
          <p:nvPr/>
        </p:nvSpPr>
        <p:spPr>
          <a:xfrm>
            <a:off x="457200" y="3581400"/>
            <a:ext cx="8152560" cy="760320"/>
          </a:xfrm>
          <a:prstGeom prst="rect">
            <a:avLst/>
          </a:prstGeom>
        </p:spPr>
        <p:txBody>
          <a:bodyPr lIns="90000" tIns="45000" rIns="90000" bIns="45000"/>
          <a:lstStyle/>
          <a:p>
            <a:pPr algn="r">
              <a:lnSpc>
                <a:spcPct val="100000"/>
              </a:lnSpc>
            </a:pPr>
            <a:r>
              <a:rPr lang="en-US" sz="2800" b="1" dirty="0"/>
              <a:t>Literature Review</a:t>
            </a:r>
            <a:endParaRPr sz="2800" b="1" dirty="0"/>
          </a:p>
        </p:txBody>
      </p:sp>
      <p:sp>
        <p:nvSpPr>
          <p:cNvPr id="84" name="CustomShape 3"/>
          <p:cNvSpPr/>
          <p:nvPr/>
        </p:nvSpPr>
        <p:spPr>
          <a:xfrm>
            <a:off x="685800" y="1295280"/>
            <a:ext cx="7619400" cy="775800"/>
          </a:xfrm>
          <a:prstGeom prst="rect">
            <a:avLst/>
          </a:prstGeom>
        </p:spPr>
        <p:txBody>
          <a:bodyPr lIns="90000" tIns="45000" rIns="90000" bIns="45000"/>
          <a:lstStyle/>
          <a:p>
            <a:pPr>
              <a:lnSpc>
                <a:spcPct val="150000"/>
              </a:lnSpc>
            </a:pPr>
            <a:endParaRPr/>
          </a:p>
          <a:p>
            <a:pPr>
              <a:lnSpc>
                <a:spcPct val="100000"/>
              </a:lnSpc>
            </a:pPr>
            <a:endParaRPr/>
          </a:p>
        </p:txBody>
      </p:sp>
      <mc:AlternateContent xmlns:mc="http://schemas.openxmlformats.org/markup-compatibility/2006" xmlns:pslz="http://schemas.microsoft.com/office/powerpoint/2016/slidezoom">
        <mc:Choice Requires="pslz">
          <p:graphicFrame>
            <p:nvGraphicFramePr>
              <p:cNvPr id="3" name="Slide Zoom 2">
                <a:extLst>
                  <a:ext uri="{FF2B5EF4-FFF2-40B4-BE49-F238E27FC236}">
                    <a16:creationId xmlns:a16="http://schemas.microsoft.com/office/drawing/2014/main" id="{DFD025B0-0530-AD75-690D-ABD1D194797C}"/>
                  </a:ext>
                </a:extLst>
              </p:cNvPr>
              <p:cNvGraphicFramePr>
                <a:graphicFrameLocks noChangeAspect="1"/>
              </p:cNvGraphicFramePr>
              <p:nvPr>
                <p:extLst>
                  <p:ext uri="{D42A27DB-BD31-4B8C-83A1-F6EECF244321}">
                    <p14:modId xmlns:p14="http://schemas.microsoft.com/office/powerpoint/2010/main" val="3713244168"/>
                  </p:ext>
                </p:extLst>
              </p:nvPr>
            </p:nvGraphicFramePr>
            <p:xfrm>
              <a:off x="-2464904" y="4499941"/>
              <a:ext cx="2286000" cy="1714500"/>
            </p:xfrm>
            <a:graphic>
              <a:graphicData uri="http://schemas.microsoft.com/office/powerpoint/2016/slidezoom">
                <pslz:sldZm>
                  <pslz:sldZmObj sldId="407" cId="0">
                    <pslz:zmPr id="{C0C948FC-194C-4D21-8F5C-5D65CFB8A97A}" returnToParent="0" transitionDur="1000">
                      <p166:blipFill xmlns:p166="http://schemas.microsoft.com/office/powerpoint/2016/6/main">
                        <a:blip r:embed="rId3"/>
                        <a:stretch>
                          <a:fillRect/>
                        </a:stretch>
                      </p166:blipFill>
                      <p166:spPr xmlns:p166="http://schemas.microsoft.com/office/powerpoint/2016/6/main">
                        <a:xfrm>
                          <a:off x="0" y="0"/>
                          <a:ext cx="2286000" cy="1714500"/>
                        </a:xfrm>
                        <a:prstGeom prst="rect">
                          <a:avLst/>
                        </a:prstGeom>
                        <a:ln w="3175">
                          <a:solidFill>
                            <a:prstClr val="ltGray"/>
                          </a:solidFill>
                        </a:ln>
                      </p166:spPr>
                    </pslz:zmPr>
                  </pslz:sldZmObj>
                </pslz:sldZm>
              </a:graphicData>
            </a:graphic>
          </p:graphicFrame>
        </mc:Choice>
        <mc:Fallback xmlns="">
          <p:pic>
            <p:nvPicPr>
              <p:cNvPr id="3" name="Slide Zoom 2">
                <a:hlinkClick r:id="rId4" action="ppaction://hlinksldjump"/>
                <a:extLst>
                  <a:ext uri="{FF2B5EF4-FFF2-40B4-BE49-F238E27FC236}">
                    <a16:creationId xmlns:a16="http://schemas.microsoft.com/office/drawing/2014/main" id="{DFD025B0-0530-AD75-690D-ABD1D194797C}"/>
                  </a:ext>
                </a:extLst>
              </p:cNvPr>
              <p:cNvPicPr>
                <a:picLocks noGrp="1" noRot="1" noChangeAspect="1" noMove="1" noResize="1" noEditPoints="1" noAdjustHandles="1" noChangeArrowheads="1" noChangeShapeType="1"/>
              </p:cNvPicPr>
              <p:nvPr/>
            </p:nvPicPr>
            <p:blipFill>
              <a:blip r:embed="rId5"/>
              <a:stretch>
                <a:fillRect/>
              </a:stretch>
            </p:blipFill>
            <p:spPr>
              <a:xfrm>
                <a:off x="-2464904" y="4499941"/>
                <a:ext cx="2286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4277705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939" y="-9939"/>
            <a:ext cx="8991600" cy="461665"/>
          </a:xfrm>
          <a:prstGeom prst="rect">
            <a:avLst/>
          </a:prstGeom>
          <a:noFill/>
        </p:spPr>
        <p:txBody>
          <a:bodyPr wrap="square" rtlCol="0">
            <a:spAutoFit/>
          </a:bodyPr>
          <a:lstStyle/>
          <a:p>
            <a:r>
              <a:rPr lang="en-IN" sz="2400" u="sng" dirty="0">
                <a:solidFill>
                  <a:srgbClr val="FF0000"/>
                </a:solidFill>
                <a:latin typeface="Times New Roman" panose="02020603050405020304" pitchFamily="18" charset="0"/>
                <a:cs typeface="Times New Roman" panose="02020603050405020304" pitchFamily="18" charset="0"/>
              </a:rPr>
              <a:t>Comparison table for the existing system</a:t>
            </a:r>
            <a:endParaRPr lang="en-US" sz="2400" u="sng" dirty="0">
              <a:solidFill>
                <a:srgbClr val="FF0000"/>
              </a:solidFill>
              <a:latin typeface="Times New Roman" panose="02020603050405020304" pitchFamily="18" charset="0"/>
              <a:cs typeface="Times New Roman" panose="02020603050405020304" pitchFamily="18" charset="0"/>
            </a:endParaRPr>
          </a:p>
        </p:txBody>
      </p:sp>
      <p:graphicFrame>
        <p:nvGraphicFramePr>
          <p:cNvPr id="2" name="Table 2">
            <a:extLst>
              <a:ext uri="{FF2B5EF4-FFF2-40B4-BE49-F238E27FC236}">
                <a16:creationId xmlns:a16="http://schemas.microsoft.com/office/drawing/2014/main" id="{C7B0E5F3-E63A-E40C-3B4F-FF4E3A18651B}"/>
              </a:ext>
            </a:extLst>
          </p:cNvPr>
          <p:cNvGraphicFramePr>
            <a:graphicFrameLocks noGrp="1"/>
          </p:cNvGraphicFramePr>
          <p:nvPr>
            <p:extLst>
              <p:ext uri="{D42A27DB-BD31-4B8C-83A1-F6EECF244321}">
                <p14:modId xmlns:p14="http://schemas.microsoft.com/office/powerpoint/2010/main" val="2657325258"/>
              </p:ext>
            </p:extLst>
          </p:nvPr>
        </p:nvGraphicFramePr>
        <p:xfrm>
          <a:off x="84482" y="460392"/>
          <a:ext cx="8975036" cy="6217920"/>
        </p:xfrm>
        <a:graphic>
          <a:graphicData uri="http://schemas.openxmlformats.org/drawingml/2006/table">
            <a:tbl>
              <a:tblPr firstRow="1" bandRow="1">
                <a:tableStyleId>{5C22544A-7EE6-4342-B048-85BDC9FD1C3A}</a:tableStyleId>
              </a:tblPr>
              <a:tblGrid>
                <a:gridCol w="533400">
                  <a:extLst>
                    <a:ext uri="{9D8B030D-6E8A-4147-A177-3AD203B41FA5}">
                      <a16:colId xmlns:a16="http://schemas.microsoft.com/office/drawing/2014/main" val="432745929"/>
                    </a:ext>
                  </a:extLst>
                </a:gridCol>
                <a:gridCol w="1210918">
                  <a:extLst>
                    <a:ext uri="{9D8B030D-6E8A-4147-A177-3AD203B41FA5}">
                      <a16:colId xmlns:a16="http://schemas.microsoft.com/office/drawing/2014/main" val="1998233565"/>
                    </a:ext>
                  </a:extLst>
                </a:gridCol>
                <a:gridCol w="1837082">
                  <a:extLst>
                    <a:ext uri="{9D8B030D-6E8A-4147-A177-3AD203B41FA5}">
                      <a16:colId xmlns:a16="http://schemas.microsoft.com/office/drawing/2014/main" val="3760181125"/>
                    </a:ext>
                  </a:extLst>
                </a:gridCol>
                <a:gridCol w="1744318">
                  <a:extLst>
                    <a:ext uri="{9D8B030D-6E8A-4147-A177-3AD203B41FA5}">
                      <a16:colId xmlns:a16="http://schemas.microsoft.com/office/drawing/2014/main" val="1470764825"/>
                    </a:ext>
                  </a:extLst>
                </a:gridCol>
                <a:gridCol w="1913282">
                  <a:extLst>
                    <a:ext uri="{9D8B030D-6E8A-4147-A177-3AD203B41FA5}">
                      <a16:colId xmlns:a16="http://schemas.microsoft.com/office/drawing/2014/main" val="3423994347"/>
                    </a:ext>
                  </a:extLst>
                </a:gridCol>
                <a:gridCol w="1736036">
                  <a:extLst>
                    <a:ext uri="{9D8B030D-6E8A-4147-A177-3AD203B41FA5}">
                      <a16:colId xmlns:a16="http://schemas.microsoft.com/office/drawing/2014/main" val="635663868"/>
                    </a:ext>
                  </a:extLst>
                </a:gridCol>
              </a:tblGrid>
              <a:tr h="838200">
                <a:tc>
                  <a:txBody>
                    <a:bodyPr/>
                    <a:lstStyle/>
                    <a:p>
                      <a:pPr algn="ctr"/>
                      <a:r>
                        <a:rPr lang="en-US" sz="1400" dirty="0">
                          <a:latin typeface="Times New Roman" panose="02020603050405020304" pitchFamily="18" charset="0"/>
                          <a:cs typeface="Times New Roman" panose="02020603050405020304" pitchFamily="18" charset="0"/>
                        </a:rPr>
                        <a:t>S. </a:t>
                      </a:r>
                    </a:p>
                    <a:p>
                      <a:pPr algn="ctr"/>
                      <a:r>
                        <a:rPr lang="en-US" sz="1400" dirty="0">
                          <a:latin typeface="Times New Roman" panose="02020603050405020304" pitchFamily="18" charset="0"/>
                          <a:cs typeface="Times New Roman" panose="02020603050405020304" pitchFamily="18" charset="0"/>
                        </a:rPr>
                        <a:t>No</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Authors and Journal Name&amp; Year of publication</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Problem Statement</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Name of the Proposed solution/Method</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Solution </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Remarks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4428592"/>
                  </a:ext>
                </a:extLst>
              </a:tr>
              <a:tr h="1129393">
                <a:tc>
                  <a:txBody>
                    <a:bodyPr/>
                    <a:lstStyle/>
                    <a:p>
                      <a:pPr algn="ctr"/>
                      <a:r>
                        <a:rPr lang="en-US" sz="1400" dirty="0">
                          <a:latin typeface="Times New Roman" panose="02020603050405020304" pitchFamily="18" charset="0"/>
                          <a:cs typeface="Times New Roman" panose="02020603050405020304" pitchFamily="18" charset="0"/>
                        </a:rPr>
                        <a:t>1</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b="0" i="0" dirty="0">
                          <a:solidFill>
                            <a:schemeClr val="dk1"/>
                          </a:solidFill>
                          <a:effectLst/>
                          <a:latin typeface="Times New Roman" panose="02020603050405020304" pitchFamily="18" charset="0"/>
                          <a:ea typeface="+mn-ea"/>
                          <a:cs typeface="Times New Roman" panose="02020603050405020304" pitchFamily="18" charset="0"/>
                        </a:rPr>
                        <a:t>Smith, A. et al., Journal of Software Engineering (2018)</a:t>
                      </a:r>
                      <a:endParaRPr lang="en-IN" sz="1400" dirty="0">
                        <a:latin typeface="Times New Roman" panose="02020603050405020304" pitchFamily="18" charset="0"/>
                        <a:cs typeface="Times New Roman" panose="02020603050405020304" pitchFamily="18" charset="0"/>
                      </a:endParaRPr>
                    </a:p>
                  </a:txBody>
                  <a:tcPr/>
                </a:tc>
                <a:tc>
                  <a:txBody>
                    <a:bodyPr/>
                    <a:lstStyle/>
                    <a:p>
                      <a:pPr algn="ctr" fontAlgn="base"/>
                      <a:r>
                        <a:rPr lang="en-US" sz="1400" dirty="0">
                          <a:effectLst/>
                          <a:latin typeface="Times New Roman" panose="02020603050405020304" pitchFamily="18" charset="0"/>
                          <a:cs typeface="Times New Roman" panose="02020603050405020304" pitchFamily="18" charset="0"/>
                        </a:rPr>
                        <a:t>Limited accuracy in software effort estimation using traditional methods</a:t>
                      </a:r>
                    </a:p>
                  </a:txBody>
                  <a:tcPr anchor="ctr"/>
                </a:tc>
                <a:tc>
                  <a:txBody>
                    <a:bodyPr/>
                    <a:lstStyle/>
                    <a:p>
                      <a:pPr algn="ctr" fontAlgn="base"/>
                      <a:r>
                        <a:rPr lang="en-IN" sz="1400" dirty="0">
                          <a:effectLst/>
                          <a:latin typeface="Times New Roman" panose="02020603050405020304" pitchFamily="18" charset="0"/>
                          <a:cs typeface="Times New Roman" panose="02020603050405020304" pitchFamily="18" charset="0"/>
                        </a:rPr>
                        <a:t>Genetic Algorithm-based Estimation Model</a:t>
                      </a:r>
                    </a:p>
                  </a:txBody>
                  <a:tcPr anchor="ctr"/>
                </a:tc>
                <a:tc>
                  <a:txBody>
                    <a:bodyPr/>
                    <a:lstStyle/>
                    <a:p>
                      <a:pPr algn="ctr" fontAlgn="base"/>
                      <a:r>
                        <a:rPr lang="en-US" sz="1400">
                          <a:effectLst/>
                          <a:latin typeface="Times New Roman" panose="02020603050405020304" pitchFamily="18" charset="0"/>
                          <a:cs typeface="Times New Roman" panose="02020603050405020304" pitchFamily="18" charset="0"/>
                        </a:rPr>
                        <a:t>Utilizes Genetic Algorithm to optimize estimation parameters, improving accuracy</a:t>
                      </a:r>
                    </a:p>
                  </a:txBody>
                  <a:tcPr anchor="ctr"/>
                </a:tc>
                <a:tc>
                  <a:txBody>
                    <a:bodyPr/>
                    <a:lstStyle/>
                    <a:p>
                      <a:pPr algn="ctr" fontAlgn="base"/>
                      <a:r>
                        <a:rPr lang="en-IN" sz="1400" dirty="0">
                          <a:effectLst/>
                          <a:latin typeface="Times New Roman" panose="02020603050405020304" pitchFamily="18" charset="0"/>
                          <a:cs typeface="Times New Roman" panose="02020603050405020304" pitchFamily="18" charset="0"/>
                        </a:rPr>
                        <a:t>Efficient for medium-sized projects</a:t>
                      </a:r>
                    </a:p>
                  </a:txBody>
                  <a:tcPr anchor="ctr"/>
                </a:tc>
                <a:extLst>
                  <a:ext uri="{0D108BD9-81ED-4DB2-BD59-A6C34878D82A}">
                    <a16:rowId xmlns:a16="http://schemas.microsoft.com/office/drawing/2014/main" val="3097843794"/>
                  </a:ext>
                </a:extLst>
              </a:tr>
              <a:tr h="1129393">
                <a:tc>
                  <a:txBody>
                    <a:bodyPr/>
                    <a:lstStyle/>
                    <a:p>
                      <a:pPr algn="ctr"/>
                      <a:r>
                        <a:rPr lang="en-US" sz="1400" dirty="0">
                          <a:latin typeface="Times New Roman" panose="02020603050405020304" pitchFamily="18" charset="0"/>
                          <a:cs typeface="Times New Roman" panose="02020603050405020304" pitchFamily="18" charset="0"/>
                        </a:rPr>
                        <a:t>2</a:t>
                      </a:r>
                      <a:endParaRPr lang="en-IN" sz="1400" dirty="0">
                        <a:latin typeface="Times New Roman" panose="02020603050405020304" pitchFamily="18" charset="0"/>
                        <a:cs typeface="Times New Roman" panose="02020603050405020304" pitchFamily="18" charset="0"/>
                      </a:endParaRPr>
                    </a:p>
                  </a:txBody>
                  <a:tcPr/>
                </a:tc>
                <a:tc>
                  <a:txBody>
                    <a:bodyPr/>
                    <a:lstStyle/>
                    <a:p>
                      <a:pPr algn="ctr" fontAlgn="base"/>
                      <a:r>
                        <a:rPr lang="en-IN" sz="1400">
                          <a:effectLst/>
                          <a:latin typeface="Times New Roman" panose="02020603050405020304" pitchFamily="18" charset="0"/>
                          <a:cs typeface="Times New Roman" panose="02020603050405020304" pitchFamily="18" charset="0"/>
                        </a:rPr>
                        <a:t>Johnson, B. et al., International Journal of Computer Science (2017)</a:t>
                      </a:r>
                    </a:p>
                  </a:txBody>
                  <a:tcPr anchor="ctr"/>
                </a:tc>
                <a:tc>
                  <a:txBody>
                    <a:bodyPr/>
                    <a:lstStyle/>
                    <a:p>
                      <a:pPr algn="ctr" fontAlgn="base"/>
                      <a:r>
                        <a:rPr lang="en-US" sz="1400" dirty="0">
                          <a:effectLst/>
                          <a:latin typeface="Times New Roman" panose="02020603050405020304" pitchFamily="18" charset="0"/>
                          <a:cs typeface="Times New Roman" panose="02020603050405020304" pitchFamily="18" charset="0"/>
                        </a:rPr>
                        <a:t>Difficulty in handling large-scale software projects for effort estimation</a:t>
                      </a:r>
                    </a:p>
                  </a:txBody>
                  <a:tcPr anchor="ctr"/>
                </a:tc>
                <a:tc>
                  <a:txBody>
                    <a:bodyPr/>
                    <a:lstStyle/>
                    <a:p>
                      <a:pPr algn="ctr" fontAlgn="base"/>
                      <a:r>
                        <a:rPr lang="en-US" sz="1400" dirty="0">
                          <a:effectLst/>
                          <a:latin typeface="Times New Roman" panose="02020603050405020304" pitchFamily="18" charset="0"/>
                          <a:cs typeface="Times New Roman" panose="02020603050405020304" pitchFamily="18" charset="0"/>
                        </a:rPr>
                        <a:t>Particle Swarm Optimization for Dynamic Parameter Adaptation</a:t>
                      </a:r>
                    </a:p>
                  </a:txBody>
                  <a:tcPr anchor="ctr"/>
                </a:tc>
                <a:tc>
                  <a:txBody>
                    <a:bodyPr/>
                    <a:lstStyle/>
                    <a:p>
                      <a:pPr algn="ctr" fontAlgn="base"/>
                      <a:r>
                        <a:rPr lang="en-US" sz="1400" dirty="0">
                          <a:effectLst/>
                          <a:latin typeface="Times New Roman" panose="02020603050405020304" pitchFamily="18" charset="0"/>
                          <a:cs typeface="Times New Roman" panose="02020603050405020304" pitchFamily="18" charset="0"/>
                        </a:rPr>
                        <a:t>Adapts algorithm parameters dynamically based on project complexity using Particle Swarm Optimization</a:t>
                      </a:r>
                    </a:p>
                  </a:txBody>
                  <a:tcPr anchor="ctr"/>
                </a:tc>
                <a:tc>
                  <a:txBody>
                    <a:bodyPr/>
                    <a:lstStyle/>
                    <a:p>
                      <a:pPr algn="ctr" fontAlgn="base"/>
                      <a:r>
                        <a:rPr lang="en-US" sz="1400" dirty="0">
                          <a:effectLst/>
                          <a:latin typeface="Times New Roman" panose="02020603050405020304" pitchFamily="18" charset="0"/>
                          <a:cs typeface="Times New Roman" panose="02020603050405020304" pitchFamily="18" charset="0"/>
                        </a:rPr>
                        <a:t>Suitable for large and complex projects</a:t>
                      </a:r>
                    </a:p>
                  </a:txBody>
                  <a:tcPr anchor="ctr"/>
                </a:tc>
                <a:extLst>
                  <a:ext uri="{0D108BD9-81ED-4DB2-BD59-A6C34878D82A}">
                    <a16:rowId xmlns:a16="http://schemas.microsoft.com/office/drawing/2014/main" val="3396774005"/>
                  </a:ext>
                </a:extLst>
              </a:tr>
              <a:tr h="1129393">
                <a:tc>
                  <a:txBody>
                    <a:bodyPr/>
                    <a:lstStyle/>
                    <a:p>
                      <a:pPr algn="ctr"/>
                      <a:r>
                        <a:rPr lang="en-US" sz="1400" dirty="0">
                          <a:latin typeface="Times New Roman" panose="02020603050405020304" pitchFamily="18" charset="0"/>
                          <a:cs typeface="Times New Roman" panose="02020603050405020304" pitchFamily="18" charset="0"/>
                        </a:rPr>
                        <a:t>3</a:t>
                      </a:r>
                      <a:endParaRPr lang="en-IN" sz="1400" dirty="0">
                        <a:latin typeface="Times New Roman" panose="02020603050405020304" pitchFamily="18" charset="0"/>
                        <a:cs typeface="Times New Roman" panose="02020603050405020304" pitchFamily="18" charset="0"/>
                      </a:endParaRPr>
                    </a:p>
                  </a:txBody>
                  <a:tcPr/>
                </a:tc>
                <a:tc>
                  <a:txBody>
                    <a:bodyPr/>
                    <a:lstStyle/>
                    <a:p>
                      <a:pPr algn="ctr" fontAlgn="base"/>
                      <a:r>
                        <a:rPr lang="fr-FR" sz="1400">
                          <a:effectLst/>
                          <a:latin typeface="Times New Roman" panose="02020603050405020304" pitchFamily="18" charset="0"/>
                          <a:cs typeface="Times New Roman" panose="02020603050405020304" pitchFamily="18" charset="0"/>
                        </a:rPr>
                        <a:t>Lee, C. et al., Software Quality Journal (2019)</a:t>
                      </a:r>
                    </a:p>
                  </a:txBody>
                  <a:tcPr anchor="ctr"/>
                </a:tc>
                <a:tc>
                  <a:txBody>
                    <a:bodyPr/>
                    <a:lstStyle/>
                    <a:p>
                      <a:pPr algn="ctr" fontAlgn="base"/>
                      <a:r>
                        <a:rPr lang="en-US" sz="1400">
                          <a:effectLst/>
                          <a:latin typeface="Times New Roman" panose="02020603050405020304" pitchFamily="18" charset="0"/>
                          <a:cs typeface="Times New Roman" panose="02020603050405020304" pitchFamily="18" charset="0"/>
                        </a:rPr>
                        <a:t>Lack of precision in effort estimation for specific software modules</a:t>
                      </a:r>
                    </a:p>
                  </a:txBody>
                  <a:tcPr anchor="ctr"/>
                </a:tc>
                <a:tc>
                  <a:txBody>
                    <a:bodyPr/>
                    <a:lstStyle/>
                    <a:p>
                      <a:pPr algn="ctr" fontAlgn="base"/>
                      <a:r>
                        <a:rPr lang="en-IN" sz="1400" dirty="0">
                          <a:effectLst/>
                          <a:latin typeface="Times New Roman" panose="02020603050405020304" pitchFamily="18" charset="0"/>
                          <a:cs typeface="Times New Roman" panose="02020603050405020304" pitchFamily="18" charset="0"/>
                        </a:rPr>
                        <a:t>Modular Support Vector Machine for Component-wise Estimation</a:t>
                      </a:r>
                    </a:p>
                  </a:txBody>
                  <a:tcPr anchor="ctr"/>
                </a:tc>
                <a:tc>
                  <a:txBody>
                    <a:bodyPr/>
                    <a:lstStyle/>
                    <a:p>
                      <a:pPr algn="ctr" fontAlgn="base"/>
                      <a:r>
                        <a:rPr lang="en-US" sz="1400" dirty="0">
                          <a:effectLst/>
                          <a:latin typeface="Times New Roman" panose="02020603050405020304" pitchFamily="18" charset="0"/>
                          <a:cs typeface="Times New Roman" panose="02020603050405020304" pitchFamily="18" charset="0"/>
                        </a:rPr>
                        <a:t>Divides software into modules, applies Support Vector Machine individually</a:t>
                      </a:r>
                    </a:p>
                  </a:txBody>
                  <a:tcPr anchor="ctr"/>
                </a:tc>
                <a:tc>
                  <a:txBody>
                    <a:bodyPr/>
                    <a:lstStyle/>
                    <a:p>
                      <a:pPr algn="ctr" fontAlgn="base"/>
                      <a:r>
                        <a:rPr lang="en-US" sz="1400" dirty="0">
                          <a:effectLst/>
                          <a:latin typeface="Times New Roman" panose="02020603050405020304" pitchFamily="18" charset="0"/>
                          <a:cs typeface="Times New Roman" panose="02020603050405020304" pitchFamily="18" charset="0"/>
                        </a:rPr>
                        <a:t>Provides precise estimation for each module</a:t>
                      </a:r>
                    </a:p>
                  </a:txBody>
                  <a:tcPr anchor="ctr"/>
                </a:tc>
                <a:extLst>
                  <a:ext uri="{0D108BD9-81ED-4DB2-BD59-A6C34878D82A}">
                    <a16:rowId xmlns:a16="http://schemas.microsoft.com/office/drawing/2014/main" val="715288033"/>
                  </a:ext>
                </a:extLst>
              </a:tr>
              <a:tr h="1129393">
                <a:tc>
                  <a:txBody>
                    <a:bodyPr/>
                    <a:lstStyle/>
                    <a:p>
                      <a:pPr algn="ctr"/>
                      <a:r>
                        <a:rPr lang="en-US" sz="1400" dirty="0">
                          <a:latin typeface="Times New Roman" panose="02020603050405020304" pitchFamily="18" charset="0"/>
                          <a:cs typeface="Times New Roman" panose="02020603050405020304" pitchFamily="18" charset="0"/>
                        </a:rPr>
                        <a:t>4</a:t>
                      </a:r>
                      <a:endParaRPr lang="en-IN" sz="1400" dirty="0">
                        <a:latin typeface="Times New Roman" panose="02020603050405020304" pitchFamily="18" charset="0"/>
                        <a:cs typeface="Times New Roman" panose="02020603050405020304" pitchFamily="18" charset="0"/>
                      </a:endParaRPr>
                    </a:p>
                  </a:txBody>
                  <a:tcPr/>
                </a:tc>
                <a:tc>
                  <a:txBody>
                    <a:bodyPr/>
                    <a:lstStyle/>
                    <a:p>
                      <a:pPr algn="ctr" fontAlgn="base"/>
                      <a:r>
                        <a:rPr lang="en-US" sz="1400">
                          <a:effectLst/>
                          <a:latin typeface="Times New Roman" panose="02020603050405020304" pitchFamily="18" charset="0"/>
                          <a:cs typeface="Times New Roman" panose="02020603050405020304" pitchFamily="18" charset="0"/>
                        </a:rPr>
                        <a:t>Garcia, D. et al., Journal of Systems and Software (2016)</a:t>
                      </a:r>
                    </a:p>
                  </a:txBody>
                  <a:tcPr anchor="ctr"/>
                </a:tc>
                <a:tc>
                  <a:txBody>
                    <a:bodyPr/>
                    <a:lstStyle/>
                    <a:p>
                      <a:pPr algn="ctr" fontAlgn="base"/>
                      <a:r>
                        <a:rPr lang="en-US" sz="1400">
                          <a:effectLst/>
                          <a:latin typeface="Times New Roman" panose="02020603050405020304" pitchFamily="18" charset="0"/>
                          <a:cs typeface="Times New Roman" panose="02020603050405020304" pitchFamily="18" charset="0"/>
                        </a:rPr>
                        <a:t>Inaccuracy due to changing requirements during project development</a:t>
                      </a:r>
                    </a:p>
                  </a:txBody>
                  <a:tcPr anchor="ctr"/>
                </a:tc>
                <a:tc>
                  <a:txBody>
                    <a:bodyPr/>
                    <a:lstStyle/>
                    <a:p>
                      <a:pPr algn="ctr" fontAlgn="base"/>
                      <a:r>
                        <a:rPr lang="en-IN" sz="1400">
                          <a:effectLst/>
                          <a:latin typeface="Times New Roman" panose="02020603050405020304" pitchFamily="18" charset="0"/>
                          <a:cs typeface="Times New Roman" panose="02020603050405020304" pitchFamily="18" charset="0"/>
                        </a:rPr>
                        <a:t>Bayesian Network-based Agile Estimation</a:t>
                      </a:r>
                    </a:p>
                  </a:txBody>
                  <a:tcPr anchor="ctr"/>
                </a:tc>
                <a:tc>
                  <a:txBody>
                    <a:bodyPr/>
                    <a:lstStyle/>
                    <a:p>
                      <a:pPr algn="ctr" fontAlgn="base"/>
                      <a:r>
                        <a:rPr lang="en-US" sz="1400" dirty="0">
                          <a:effectLst/>
                          <a:latin typeface="Times New Roman" panose="02020603050405020304" pitchFamily="18" charset="0"/>
                          <a:cs typeface="Times New Roman" panose="02020603050405020304" pitchFamily="18" charset="0"/>
                        </a:rPr>
                        <a:t>Integrates Bayesian Network with agile methodologies for adaptable estimation</a:t>
                      </a:r>
                    </a:p>
                  </a:txBody>
                  <a:tcPr anchor="ctr"/>
                </a:tc>
                <a:tc>
                  <a:txBody>
                    <a:bodyPr/>
                    <a:lstStyle/>
                    <a:p>
                      <a:pPr algn="ctr" fontAlgn="base"/>
                      <a:r>
                        <a:rPr lang="en-US" sz="1400" dirty="0">
                          <a:effectLst/>
                          <a:latin typeface="Times New Roman" panose="02020603050405020304" pitchFamily="18" charset="0"/>
                          <a:cs typeface="Times New Roman" panose="02020603050405020304" pitchFamily="18" charset="0"/>
                        </a:rPr>
                        <a:t>Suitable for projects with evolving requirements</a:t>
                      </a:r>
                    </a:p>
                  </a:txBody>
                  <a:tcPr anchor="ctr"/>
                </a:tc>
                <a:extLst>
                  <a:ext uri="{0D108BD9-81ED-4DB2-BD59-A6C34878D82A}">
                    <a16:rowId xmlns:a16="http://schemas.microsoft.com/office/drawing/2014/main" val="3764279788"/>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6200" y="457200"/>
            <a:ext cx="8991600" cy="461665"/>
          </a:xfrm>
          <a:prstGeom prst="rect">
            <a:avLst/>
          </a:prstGeom>
          <a:noFill/>
        </p:spPr>
        <p:txBody>
          <a:bodyPr wrap="square" rtlCol="0">
            <a:spAutoFit/>
          </a:bodyPr>
          <a:lstStyle/>
          <a:p>
            <a:r>
              <a:rPr lang="en-US" sz="2400" dirty="0">
                <a:solidFill>
                  <a:srgbClr val="FF0000"/>
                </a:solidFill>
                <a:latin typeface="+mj-lt"/>
                <a:cs typeface="Times New Roman" panose="02020603050405020304" pitchFamily="18" charset="0"/>
              </a:rPr>
              <a:t>Implementation of Existing System</a:t>
            </a:r>
          </a:p>
        </p:txBody>
      </p:sp>
      <p:sp>
        <p:nvSpPr>
          <p:cNvPr id="7" name="CustomShape 1"/>
          <p:cNvSpPr/>
          <p:nvPr/>
        </p:nvSpPr>
        <p:spPr>
          <a:xfrm>
            <a:off x="76200" y="1066800"/>
            <a:ext cx="8381160" cy="75600"/>
          </a:xfrm>
          <a:prstGeom prst="rect">
            <a:avLst/>
          </a:prstGeom>
          <a:solidFill>
            <a:srgbClr val="7030A0"/>
          </a:solidFill>
          <a:ln w="25560">
            <a:solidFill>
              <a:srgbClr val="3A5F8B"/>
            </a:solidFill>
            <a:round/>
          </a:ln>
        </p:spPr>
        <p:txBody>
          <a:bodyPr/>
          <a:lstStyle/>
          <a:p>
            <a:endParaRPr lang="en-IN"/>
          </a:p>
        </p:txBody>
      </p:sp>
      <p:sp>
        <p:nvSpPr>
          <p:cNvPr id="3" name="TextBox 2">
            <a:extLst>
              <a:ext uri="{FF2B5EF4-FFF2-40B4-BE49-F238E27FC236}">
                <a16:creationId xmlns:a16="http://schemas.microsoft.com/office/drawing/2014/main" id="{3C5357A6-48BC-E219-7F80-D624F7E02A37}"/>
              </a:ext>
            </a:extLst>
          </p:cNvPr>
          <p:cNvSpPr txBox="1"/>
          <p:nvPr/>
        </p:nvSpPr>
        <p:spPr>
          <a:xfrm>
            <a:off x="228600" y="1371600"/>
            <a:ext cx="8458200" cy="3343929"/>
          </a:xfrm>
          <a:prstGeom prst="rect">
            <a:avLst/>
          </a:prstGeom>
          <a:noFill/>
        </p:spPr>
        <p:txBody>
          <a:bodyPr wrap="square">
            <a:spAutoFit/>
          </a:bodyPr>
          <a:lstStyle/>
          <a:p>
            <a:r>
              <a:rPr lang="en-US" sz="2000" b="1" dirty="0"/>
              <a:t>FireFly Optimization Algorithm:</a:t>
            </a:r>
          </a:p>
          <a:p>
            <a:pPr marL="285750" indent="-285750" algn="just">
              <a:lnSpc>
                <a:spcPct val="150000"/>
              </a:lnSpc>
              <a:buFont typeface="Wingdings" panose="05000000000000000000" pitchFamily="2" charset="2"/>
              <a:buChar char="Ø"/>
            </a:pPr>
            <a:r>
              <a:rPr lang="en-IN" dirty="0"/>
              <a:t>Firefly algorithm is inspired by FLASHING Behaviour of firefly.</a:t>
            </a:r>
          </a:p>
          <a:p>
            <a:pPr marL="285750" indent="-285750" algn="just">
              <a:lnSpc>
                <a:spcPct val="150000"/>
              </a:lnSpc>
              <a:buFont typeface="Wingdings" panose="05000000000000000000" pitchFamily="2" charset="2"/>
              <a:buChar char="Ø"/>
            </a:pPr>
            <a:r>
              <a:rPr lang="en-US" dirty="0"/>
              <a:t>All Firefly are unisex, which means any firefly can be attracted to any other brighter one or regardless of their sex.</a:t>
            </a:r>
          </a:p>
          <a:p>
            <a:pPr marL="285750" indent="-285750" algn="just">
              <a:lnSpc>
                <a:spcPct val="150000"/>
              </a:lnSpc>
              <a:buFont typeface="Wingdings" panose="05000000000000000000" pitchFamily="2" charset="2"/>
              <a:buChar char="Ø"/>
            </a:pPr>
            <a:r>
              <a:rPr lang="en-US" dirty="0"/>
              <a:t>The brighter of Firefly is determined from the encoded objective function.</a:t>
            </a:r>
          </a:p>
          <a:p>
            <a:pPr marL="285750" indent="-285750" algn="just">
              <a:lnSpc>
                <a:spcPct val="150000"/>
              </a:lnSpc>
              <a:buFont typeface="Wingdings" panose="05000000000000000000" pitchFamily="2" charset="2"/>
              <a:buChar char="Ø"/>
            </a:pPr>
            <a:r>
              <a:rPr lang="en-US" dirty="0"/>
              <a:t>The attractiveness is directly proportional to brightness, and they both decreases as their distance increases</a:t>
            </a:r>
            <a:r>
              <a:rPr lang="en-US" sz="2000" dirty="0"/>
              <a:t>.</a:t>
            </a:r>
          </a:p>
          <a:p>
            <a:pPr marL="285750" indent="-285750" algn="just">
              <a:lnSpc>
                <a:spcPct val="150000"/>
              </a:lnSpc>
              <a:buFont typeface="Wingdings" panose="05000000000000000000" pitchFamily="2" charset="2"/>
              <a:buChar char="Ø"/>
            </a:pPr>
            <a:endParaRPr lang="en-US" sz="2000" dirty="0"/>
          </a:p>
        </p:txBody>
      </p:sp>
      <p:pic>
        <p:nvPicPr>
          <p:cNvPr id="5" name="Picture 4">
            <a:extLst>
              <a:ext uri="{FF2B5EF4-FFF2-40B4-BE49-F238E27FC236}">
                <a16:creationId xmlns:a16="http://schemas.microsoft.com/office/drawing/2014/main" id="{FA502A7F-A947-AA38-0502-D1E25165DA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4457700"/>
            <a:ext cx="2750769" cy="2057400"/>
          </a:xfrm>
          <a:prstGeom prst="rect">
            <a:avLst/>
          </a:prstGeom>
        </p:spPr>
      </p:pic>
      <p:pic>
        <p:nvPicPr>
          <p:cNvPr id="9" name="Picture 8">
            <a:extLst>
              <a:ext uri="{FF2B5EF4-FFF2-40B4-BE49-F238E27FC236}">
                <a16:creationId xmlns:a16="http://schemas.microsoft.com/office/drawing/2014/main" id="{1D7033EA-F320-73F7-31CD-B59AEB9E6E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0200" y="4586615"/>
            <a:ext cx="2522913" cy="2057400"/>
          </a:xfrm>
          <a:prstGeom prst="rect">
            <a:avLst/>
          </a:prstGeom>
        </p:spPr>
      </p:pic>
    </p:spTree>
    <p:extLst>
      <p:ext uri="{BB962C8B-B14F-4D97-AF65-F5344CB8AC3E}">
        <p14:creationId xmlns:p14="http://schemas.microsoft.com/office/powerpoint/2010/main" val="10384653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stomShape 1"/>
          <p:cNvSpPr/>
          <p:nvPr/>
        </p:nvSpPr>
        <p:spPr>
          <a:xfrm>
            <a:off x="457200" y="990600"/>
            <a:ext cx="8381160" cy="75600"/>
          </a:xfrm>
          <a:prstGeom prst="rect">
            <a:avLst/>
          </a:prstGeom>
          <a:solidFill>
            <a:srgbClr val="7030A0"/>
          </a:solidFill>
          <a:ln w="25560">
            <a:solidFill>
              <a:srgbClr val="3A5F8B"/>
            </a:solidFill>
            <a:round/>
          </a:ln>
        </p:spPr>
        <p:txBody>
          <a:bodyPr/>
          <a:lstStyle/>
          <a:p>
            <a:endParaRPr lang="en-IN"/>
          </a:p>
        </p:txBody>
      </p:sp>
      <p:sp>
        <p:nvSpPr>
          <p:cNvPr id="8" name="TextBox 7"/>
          <p:cNvSpPr txBox="1"/>
          <p:nvPr/>
        </p:nvSpPr>
        <p:spPr>
          <a:xfrm>
            <a:off x="457200" y="457200"/>
            <a:ext cx="3048000" cy="523220"/>
          </a:xfrm>
          <a:prstGeom prst="rect">
            <a:avLst/>
          </a:prstGeom>
          <a:noFill/>
        </p:spPr>
        <p:txBody>
          <a:bodyPr wrap="square" rtlCol="0">
            <a:spAutoFit/>
          </a:bodyPr>
          <a:lstStyle/>
          <a:p>
            <a:r>
              <a:rPr lang="en-US" sz="2800" b="1" dirty="0">
                <a:solidFill>
                  <a:srgbClr val="C00000"/>
                </a:solidFill>
                <a:latin typeface="+mj-lt"/>
              </a:rPr>
              <a:t>Result</a:t>
            </a:r>
          </a:p>
        </p:txBody>
      </p:sp>
      <p:sp>
        <p:nvSpPr>
          <p:cNvPr id="17" name="TextBox 16">
            <a:extLst>
              <a:ext uri="{FF2B5EF4-FFF2-40B4-BE49-F238E27FC236}">
                <a16:creationId xmlns:a16="http://schemas.microsoft.com/office/drawing/2014/main" id="{71441B74-7851-C885-9072-BECE2A3B0CEE}"/>
              </a:ext>
            </a:extLst>
          </p:cNvPr>
          <p:cNvSpPr txBox="1"/>
          <p:nvPr/>
        </p:nvSpPr>
        <p:spPr>
          <a:xfrm>
            <a:off x="1447800" y="5899195"/>
            <a:ext cx="6781800" cy="456535"/>
          </a:xfrm>
          <a:prstGeom prst="rect">
            <a:avLst/>
          </a:prstGeom>
          <a:noFill/>
        </p:spPr>
        <p:txBody>
          <a:bodyPr wrap="square">
            <a:spAutoFit/>
          </a:bodyPr>
          <a:lstStyle/>
          <a:p>
            <a:pPr algn="just">
              <a:lnSpc>
                <a:spcPct val="150000"/>
              </a:lnSpc>
            </a:pPr>
            <a:r>
              <a:rPr lang="en-US" sz="1800" dirty="0">
                <a:effectLst/>
                <a:ea typeface="Times New Roman" panose="02020603050405020304" pitchFamily="18" charset="0"/>
              </a:rPr>
              <a:t>  </a:t>
            </a:r>
            <a:endParaRPr lang="en-IN" sz="1600" dirty="0">
              <a:effectLst/>
              <a:ea typeface="Times New Roman" panose="02020603050405020304" pitchFamily="18" charset="0"/>
            </a:endParaRPr>
          </a:p>
        </p:txBody>
      </p:sp>
      <p:sp>
        <p:nvSpPr>
          <p:cNvPr id="3" name="TextBox 2">
            <a:extLst>
              <a:ext uri="{FF2B5EF4-FFF2-40B4-BE49-F238E27FC236}">
                <a16:creationId xmlns:a16="http://schemas.microsoft.com/office/drawing/2014/main" id="{0FA90762-6829-D55D-6DC4-34FF58703339}"/>
              </a:ext>
            </a:extLst>
          </p:cNvPr>
          <p:cNvSpPr txBox="1"/>
          <p:nvPr/>
        </p:nvSpPr>
        <p:spPr>
          <a:xfrm>
            <a:off x="457200" y="1260249"/>
            <a:ext cx="7696200" cy="369332"/>
          </a:xfrm>
          <a:prstGeom prst="rect">
            <a:avLst/>
          </a:prstGeom>
          <a:noFill/>
        </p:spPr>
        <p:txBody>
          <a:bodyPr wrap="square">
            <a:spAutoFit/>
          </a:bodyPr>
          <a:lstStyle/>
          <a:p>
            <a:pPr marL="285750" indent="-285750">
              <a:buFont typeface="Wingdings" panose="05000000000000000000" pitchFamily="2" charset="2"/>
              <a:buChar char="Ø"/>
            </a:pPr>
            <a:r>
              <a:rPr lang="en-US" sz="1800" dirty="0">
                <a:effectLst/>
                <a:ea typeface="Times New Roman" panose="02020603050405020304" pitchFamily="18" charset="0"/>
              </a:rPr>
              <a:t>Software effort estimation using COCOMO model Dataset</a:t>
            </a:r>
            <a:endParaRPr lang="en-IN" dirty="0"/>
          </a:p>
        </p:txBody>
      </p:sp>
      <p:graphicFrame>
        <p:nvGraphicFramePr>
          <p:cNvPr id="4" name="Table 3">
            <a:extLst>
              <a:ext uri="{FF2B5EF4-FFF2-40B4-BE49-F238E27FC236}">
                <a16:creationId xmlns:a16="http://schemas.microsoft.com/office/drawing/2014/main" id="{9787082A-E867-09A4-B35A-021AF98BC3B9}"/>
              </a:ext>
            </a:extLst>
          </p:cNvPr>
          <p:cNvGraphicFramePr>
            <a:graphicFrameLocks noGrp="1"/>
          </p:cNvGraphicFramePr>
          <p:nvPr>
            <p:extLst>
              <p:ext uri="{D42A27DB-BD31-4B8C-83A1-F6EECF244321}">
                <p14:modId xmlns:p14="http://schemas.microsoft.com/office/powerpoint/2010/main" val="2212470825"/>
              </p:ext>
            </p:extLst>
          </p:nvPr>
        </p:nvGraphicFramePr>
        <p:xfrm>
          <a:off x="871979" y="1887794"/>
          <a:ext cx="7315200" cy="3082411"/>
        </p:xfrm>
        <a:graphic>
          <a:graphicData uri="http://schemas.openxmlformats.org/drawingml/2006/table">
            <a:tbl>
              <a:tblPr firstRow="1" bandRow="1">
                <a:tableStyleId>{5C22544A-7EE6-4342-B048-85BDC9FD1C3A}</a:tableStyleId>
              </a:tblPr>
              <a:tblGrid>
                <a:gridCol w="1947421">
                  <a:extLst>
                    <a:ext uri="{9D8B030D-6E8A-4147-A177-3AD203B41FA5}">
                      <a16:colId xmlns:a16="http://schemas.microsoft.com/office/drawing/2014/main" val="3473379494"/>
                    </a:ext>
                  </a:extLst>
                </a:gridCol>
                <a:gridCol w="1219200">
                  <a:extLst>
                    <a:ext uri="{9D8B030D-6E8A-4147-A177-3AD203B41FA5}">
                      <a16:colId xmlns:a16="http://schemas.microsoft.com/office/drawing/2014/main" val="62276562"/>
                    </a:ext>
                  </a:extLst>
                </a:gridCol>
                <a:gridCol w="1371600">
                  <a:extLst>
                    <a:ext uri="{9D8B030D-6E8A-4147-A177-3AD203B41FA5}">
                      <a16:colId xmlns:a16="http://schemas.microsoft.com/office/drawing/2014/main" val="603293903"/>
                    </a:ext>
                  </a:extLst>
                </a:gridCol>
                <a:gridCol w="1524000">
                  <a:extLst>
                    <a:ext uri="{9D8B030D-6E8A-4147-A177-3AD203B41FA5}">
                      <a16:colId xmlns:a16="http://schemas.microsoft.com/office/drawing/2014/main" val="1252555414"/>
                    </a:ext>
                  </a:extLst>
                </a:gridCol>
                <a:gridCol w="1252979">
                  <a:extLst>
                    <a:ext uri="{9D8B030D-6E8A-4147-A177-3AD203B41FA5}">
                      <a16:colId xmlns:a16="http://schemas.microsoft.com/office/drawing/2014/main" val="3756544651"/>
                    </a:ext>
                  </a:extLst>
                </a:gridCol>
              </a:tblGrid>
              <a:tr h="435429">
                <a:tc>
                  <a:txBody>
                    <a:bodyPr/>
                    <a:lstStyle/>
                    <a:p>
                      <a:pPr algn="ctr">
                        <a:lnSpc>
                          <a:spcPct val="115000"/>
                        </a:lnSpc>
                      </a:pPr>
                      <a:r>
                        <a:rPr lang="en-US" sz="1400" b="1" dirty="0">
                          <a:effectLst/>
                          <a:latin typeface="+mn-lt"/>
                          <a:ea typeface="Times New Roman" panose="02020603050405020304" pitchFamily="18" charset="0"/>
                          <a:cs typeface="Times New Roman" panose="02020603050405020304" pitchFamily="18" charset="0"/>
                        </a:rPr>
                        <a:t>Technique</a:t>
                      </a:r>
                      <a:endParaRPr lang="en-IN" sz="14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pPr>
                      <a:r>
                        <a:rPr lang="en-US" sz="1400" b="1">
                          <a:effectLst/>
                          <a:latin typeface="+mn-lt"/>
                          <a:ea typeface="Times New Roman" panose="02020603050405020304" pitchFamily="18" charset="0"/>
                          <a:cs typeface="Times New Roman" panose="02020603050405020304" pitchFamily="18" charset="0"/>
                        </a:rPr>
                        <a:t>MSE (%)</a:t>
                      </a:r>
                      <a:endParaRPr lang="en-IN" sz="14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pPr>
                      <a:r>
                        <a:rPr lang="en-US" sz="1400" b="1">
                          <a:effectLst/>
                          <a:latin typeface="+mn-lt"/>
                          <a:ea typeface="Times New Roman" panose="02020603050405020304" pitchFamily="18" charset="0"/>
                          <a:cs typeface="Times New Roman" panose="02020603050405020304" pitchFamily="18" charset="0"/>
                        </a:rPr>
                        <a:t>MAE (%)</a:t>
                      </a:r>
                      <a:endParaRPr lang="en-IN" sz="14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pPr>
                      <a:r>
                        <a:rPr lang="en-US" sz="1400" b="1">
                          <a:effectLst/>
                          <a:latin typeface="+mn-lt"/>
                          <a:ea typeface="Times New Roman" panose="02020603050405020304" pitchFamily="18" charset="0"/>
                          <a:cs typeface="Times New Roman" panose="02020603050405020304" pitchFamily="18" charset="0"/>
                        </a:rPr>
                        <a:t>MMRE (%)</a:t>
                      </a:r>
                      <a:endParaRPr lang="en-IN" sz="140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pPr>
                      <a:r>
                        <a:rPr lang="en-US" sz="1400" b="1">
                          <a:effectLst/>
                          <a:latin typeface="+mn-lt"/>
                          <a:ea typeface="Times New Roman" panose="02020603050405020304" pitchFamily="18" charset="0"/>
                          <a:cs typeface="Times New Roman" panose="02020603050405020304" pitchFamily="18" charset="0"/>
                        </a:rPr>
                        <a:t>LSD (%)</a:t>
                      </a:r>
                      <a:endParaRPr lang="en-IN" sz="140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21232973"/>
                  </a:ext>
                </a:extLst>
              </a:tr>
              <a:tr h="435429">
                <a:tc>
                  <a:txBody>
                    <a:bodyPr/>
                    <a:lstStyle/>
                    <a:p>
                      <a:pPr algn="ctr">
                        <a:lnSpc>
                          <a:spcPct val="115000"/>
                        </a:lnSpc>
                      </a:pPr>
                      <a:r>
                        <a:rPr lang="en-US" sz="1400" b="1" dirty="0">
                          <a:effectLst/>
                          <a:latin typeface="+mn-lt"/>
                          <a:ea typeface="Times New Roman" panose="02020603050405020304" pitchFamily="18" charset="0"/>
                          <a:cs typeface="Times New Roman" panose="02020603050405020304" pitchFamily="18" charset="0"/>
                        </a:rPr>
                        <a:t>KNN</a:t>
                      </a:r>
                      <a:endParaRPr lang="en-IN" sz="14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pPr>
                      <a:r>
                        <a:rPr lang="en-US" sz="1400">
                          <a:effectLst/>
                          <a:latin typeface="+mn-lt"/>
                          <a:ea typeface="Times New Roman" panose="02020603050405020304" pitchFamily="18" charset="0"/>
                          <a:cs typeface="Times New Roman" panose="02020603050405020304" pitchFamily="18" charset="0"/>
                        </a:rPr>
                        <a:t>8.5</a:t>
                      </a:r>
                      <a:endParaRPr lang="en-IN" sz="14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400">
                          <a:effectLst/>
                          <a:latin typeface="+mn-lt"/>
                          <a:ea typeface="Times New Roman" panose="02020603050405020304" pitchFamily="18" charset="0"/>
                          <a:cs typeface="Times New Roman" panose="02020603050405020304" pitchFamily="18" charset="0"/>
                        </a:rPr>
                        <a:t>6.2</a:t>
                      </a:r>
                      <a:endParaRPr lang="en-IN" sz="14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400">
                          <a:effectLst/>
                          <a:latin typeface="+mn-lt"/>
                          <a:ea typeface="Times New Roman" panose="02020603050405020304" pitchFamily="18" charset="0"/>
                          <a:cs typeface="Times New Roman" panose="02020603050405020304" pitchFamily="18" charset="0"/>
                        </a:rPr>
                        <a:t>4.7</a:t>
                      </a:r>
                      <a:endParaRPr lang="en-IN" sz="14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400">
                          <a:effectLst/>
                          <a:latin typeface="+mn-lt"/>
                          <a:ea typeface="Times New Roman" panose="02020603050405020304" pitchFamily="18" charset="0"/>
                          <a:cs typeface="Times New Roman" panose="02020603050405020304" pitchFamily="18" charset="0"/>
                        </a:rPr>
                        <a:t>0.23</a:t>
                      </a:r>
                      <a:endParaRPr lang="en-IN" sz="1400">
                        <a:effectLst/>
                        <a:latin typeface="+mn-lt"/>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918362850"/>
                  </a:ext>
                </a:extLst>
              </a:tr>
              <a:tr h="435429">
                <a:tc>
                  <a:txBody>
                    <a:bodyPr/>
                    <a:lstStyle/>
                    <a:p>
                      <a:pPr algn="ctr">
                        <a:lnSpc>
                          <a:spcPct val="115000"/>
                        </a:lnSpc>
                      </a:pPr>
                      <a:r>
                        <a:rPr lang="en-US" sz="1400" b="1" dirty="0">
                          <a:effectLst/>
                          <a:latin typeface="+mn-lt"/>
                          <a:ea typeface="Times New Roman" panose="02020603050405020304" pitchFamily="18" charset="0"/>
                          <a:cs typeface="Times New Roman" panose="02020603050405020304" pitchFamily="18" charset="0"/>
                        </a:rPr>
                        <a:t>RNN</a:t>
                      </a:r>
                      <a:endParaRPr lang="en-IN" sz="14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pPr>
                      <a:r>
                        <a:rPr lang="en-US" sz="1400">
                          <a:effectLst/>
                          <a:latin typeface="+mn-lt"/>
                          <a:ea typeface="Times New Roman" panose="02020603050405020304" pitchFamily="18" charset="0"/>
                          <a:cs typeface="Times New Roman" panose="02020603050405020304" pitchFamily="18" charset="0"/>
                        </a:rPr>
                        <a:t>7.2</a:t>
                      </a:r>
                      <a:endParaRPr lang="en-IN" sz="14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400">
                          <a:effectLst/>
                          <a:latin typeface="+mn-lt"/>
                          <a:ea typeface="Times New Roman" panose="02020603050405020304" pitchFamily="18" charset="0"/>
                          <a:cs typeface="Times New Roman" panose="02020603050405020304" pitchFamily="18" charset="0"/>
                        </a:rPr>
                        <a:t>5.9</a:t>
                      </a:r>
                      <a:endParaRPr lang="en-IN" sz="14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400">
                          <a:effectLst/>
                          <a:latin typeface="+mn-lt"/>
                          <a:ea typeface="Times New Roman" panose="02020603050405020304" pitchFamily="18" charset="0"/>
                          <a:cs typeface="Times New Roman" panose="02020603050405020304" pitchFamily="18" charset="0"/>
                        </a:rPr>
                        <a:t>3.9</a:t>
                      </a:r>
                      <a:endParaRPr lang="en-IN" sz="14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400">
                          <a:effectLst/>
                          <a:latin typeface="+mn-lt"/>
                          <a:ea typeface="Times New Roman" panose="02020603050405020304" pitchFamily="18" charset="0"/>
                          <a:cs typeface="Times New Roman" panose="02020603050405020304" pitchFamily="18" charset="0"/>
                        </a:rPr>
                        <a:t>0.21</a:t>
                      </a:r>
                      <a:endParaRPr lang="en-IN" sz="1400">
                        <a:effectLst/>
                        <a:latin typeface="+mn-lt"/>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78400384"/>
                  </a:ext>
                </a:extLst>
              </a:tr>
              <a:tr h="435429">
                <a:tc>
                  <a:txBody>
                    <a:bodyPr/>
                    <a:lstStyle/>
                    <a:p>
                      <a:pPr algn="ctr">
                        <a:lnSpc>
                          <a:spcPct val="115000"/>
                        </a:lnSpc>
                      </a:pPr>
                      <a:r>
                        <a:rPr lang="en-US" sz="1400" b="1" dirty="0">
                          <a:effectLst/>
                          <a:latin typeface="+mn-lt"/>
                          <a:ea typeface="Times New Roman" panose="02020603050405020304" pitchFamily="18" charset="0"/>
                          <a:cs typeface="Times New Roman" panose="02020603050405020304" pitchFamily="18" charset="0"/>
                        </a:rPr>
                        <a:t>Decision Tree</a:t>
                      </a:r>
                      <a:endParaRPr lang="en-IN" sz="14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pPr>
                      <a:r>
                        <a:rPr lang="en-US" sz="1400">
                          <a:effectLst/>
                          <a:latin typeface="+mn-lt"/>
                          <a:ea typeface="Times New Roman" panose="02020603050405020304" pitchFamily="18" charset="0"/>
                          <a:cs typeface="Times New Roman" panose="02020603050405020304" pitchFamily="18" charset="0"/>
                        </a:rPr>
                        <a:t>9.1</a:t>
                      </a:r>
                      <a:endParaRPr lang="en-IN" sz="14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400">
                          <a:effectLst/>
                          <a:latin typeface="+mn-lt"/>
                          <a:ea typeface="Times New Roman" panose="02020603050405020304" pitchFamily="18" charset="0"/>
                          <a:cs typeface="Times New Roman" panose="02020603050405020304" pitchFamily="18" charset="0"/>
                        </a:rPr>
                        <a:t>6.5</a:t>
                      </a:r>
                      <a:endParaRPr lang="en-IN" sz="14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400">
                          <a:effectLst/>
                          <a:latin typeface="+mn-lt"/>
                          <a:ea typeface="Times New Roman" panose="02020603050405020304" pitchFamily="18" charset="0"/>
                          <a:cs typeface="Times New Roman" panose="02020603050405020304" pitchFamily="18" charset="0"/>
                        </a:rPr>
                        <a:t>5.1</a:t>
                      </a:r>
                      <a:endParaRPr lang="en-IN" sz="14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400">
                          <a:effectLst/>
                          <a:latin typeface="+mn-lt"/>
                          <a:ea typeface="Times New Roman" panose="02020603050405020304" pitchFamily="18" charset="0"/>
                          <a:cs typeface="Times New Roman" panose="02020603050405020304" pitchFamily="18" charset="0"/>
                        </a:rPr>
                        <a:t>0.25</a:t>
                      </a:r>
                      <a:endParaRPr lang="en-IN" sz="1400">
                        <a:effectLst/>
                        <a:latin typeface="+mn-lt"/>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197572595"/>
                  </a:ext>
                </a:extLst>
              </a:tr>
              <a:tr h="435429">
                <a:tc>
                  <a:txBody>
                    <a:bodyPr/>
                    <a:lstStyle/>
                    <a:p>
                      <a:pPr algn="ctr">
                        <a:lnSpc>
                          <a:spcPct val="115000"/>
                        </a:lnSpc>
                      </a:pPr>
                      <a:r>
                        <a:rPr lang="en-US" sz="1400" b="1" dirty="0">
                          <a:effectLst/>
                          <a:latin typeface="+mn-lt"/>
                          <a:ea typeface="Times New Roman" panose="02020603050405020304" pitchFamily="18" charset="0"/>
                          <a:cs typeface="Times New Roman" panose="02020603050405020304" pitchFamily="18" charset="0"/>
                        </a:rPr>
                        <a:t>Firefly Algorithm</a:t>
                      </a:r>
                      <a:endParaRPr lang="en-IN" sz="14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pPr>
                      <a:r>
                        <a:rPr lang="en-US" sz="1400">
                          <a:effectLst/>
                          <a:latin typeface="+mn-lt"/>
                          <a:ea typeface="Times New Roman" panose="02020603050405020304" pitchFamily="18" charset="0"/>
                          <a:cs typeface="Times New Roman" panose="02020603050405020304" pitchFamily="18" charset="0"/>
                        </a:rPr>
                        <a:t>6.8</a:t>
                      </a:r>
                      <a:endParaRPr lang="en-IN" sz="14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400">
                          <a:effectLst/>
                          <a:latin typeface="+mn-lt"/>
                          <a:ea typeface="Times New Roman" panose="02020603050405020304" pitchFamily="18" charset="0"/>
                          <a:cs typeface="Times New Roman" panose="02020603050405020304" pitchFamily="18" charset="0"/>
                        </a:rPr>
                        <a:t>5.3</a:t>
                      </a:r>
                      <a:endParaRPr lang="en-IN" sz="14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400">
                          <a:effectLst/>
                          <a:latin typeface="+mn-lt"/>
                          <a:ea typeface="Times New Roman" panose="02020603050405020304" pitchFamily="18" charset="0"/>
                          <a:cs typeface="Times New Roman" panose="02020603050405020304" pitchFamily="18" charset="0"/>
                        </a:rPr>
                        <a:t>3.6</a:t>
                      </a:r>
                      <a:endParaRPr lang="en-IN" sz="14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400">
                          <a:effectLst/>
                          <a:latin typeface="+mn-lt"/>
                          <a:ea typeface="Times New Roman" panose="02020603050405020304" pitchFamily="18" charset="0"/>
                          <a:cs typeface="Times New Roman" panose="02020603050405020304" pitchFamily="18" charset="0"/>
                        </a:rPr>
                        <a:t>0.19</a:t>
                      </a:r>
                      <a:endParaRPr lang="en-IN" sz="1400">
                        <a:effectLst/>
                        <a:latin typeface="+mn-lt"/>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804000060"/>
                  </a:ext>
                </a:extLst>
              </a:tr>
              <a:tr h="435429">
                <a:tc>
                  <a:txBody>
                    <a:bodyPr/>
                    <a:lstStyle/>
                    <a:p>
                      <a:pPr algn="ctr">
                        <a:lnSpc>
                          <a:spcPct val="115000"/>
                        </a:lnSpc>
                      </a:pPr>
                      <a:r>
                        <a:rPr lang="en-US" sz="1400" b="1" dirty="0">
                          <a:effectLst/>
                          <a:latin typeface="+mn-lt"/>
                          <a:ea typeface="Times New Roman" panose="02020603050405020304" pitchFamily="18" charset="0"/>
                          <a:cs typeface="Times New Roman" panose="02020603050405020304" pitchFamily="18" charset="0"/>
                        </a:rPr>
                        <a:t>SVM (Actual Effort)</a:t>
                      </a:r>
                      <a:endParaRPr lang="en-IN" sz="14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pPr>
                      <a:r>
                        <a:rPr lang="en-US" sz="1400">
                          <a:effectLst/>
                          <a:latin typeface="+mn-lt"/>
                          <a:ea typeface="Times New Roman" panose="02020603050405020304" pitchFamily="18" charset="0"/>
                          <a:cs typeface="Times New Roman" panose="02020603050405020304" pitchFamily="18" charset="0"/>
                        </a:rPr>
                        <a:t>9.2</a:t>
                      </a:r>
                      <a:endParaRPr lang="en-IN" sz="14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400">
                          <a:effectLst/>
                          <a:latin typeface="+mn-lt"/>
                          <a:ea typeface="Times New Roman" panose="02020603050405020304" pitchFamily="18" charset="0"/>
                          <a:cs typeface="Times New Roman" panose="02020603050405020304" pitchFamily="18" charset="0"/>
                        </a:rPr>
                        <a:t>6.8</a:t>
                      </a:r>
                      <a:endParaRPr lang="en-IN" sz="14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400">
                          <a:effectLst/>
                          <a:latin typeface="+mn-lt"/>
                          <a:ea typeface="Times New Roman" panose="02020603050405020304" pitchFamily="18" charset="0"/>
                          <a:cs typeface="Times New Roman" panose="02020603050405020304" pitchFamily="18" charset="0"/>
                        </a:rPr>
                        <a:t>5.5</a:t>
                      </a:r>
                      <a:endParaRPr lang="en-IN" sz="14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400">
                          <a:effectLst/>
                          <a:latin typeface="+mn-lt"/>
                          <a:ea typeface="Times New Roman" panose="02020603050405020304" pitchFamily="18" charset="0"/>
                          <a:cs typeface="Times New Roman" panose="02020603050405020304" pitchFamily="18" charset="0"/>
                        </a:rPr>
                        <a:t>0.28</a:t>
                      </a:r>
                      <a:endParaRPr lang="en-IN" sz="1400">
                        <a:effectLst/>
                        <a:latin typeface="+mn-lt"/>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851077159"/>
                  </a:ext>
                </a:extLst>
              </a:tr>
              <a:tr h="435429">
                <a:tc>
                  <a:txBody>
                    <a:bodyPr/>
                    <a:lstStyle/>
                    <a:p>
                      <a:pPr algn="ctr">
                        <a:lnSpc>
                          <a:spcPct val="115000"/>
                        </a:lnSpc>
                      </a:pPr>
                      <a:r>
                        <a:rPr lang="en-US" sz="1400" b="1" dirty="0">
                          <a:effectLst/>
                          <a:latin typeface="+mn-lt"/>
                          <a:ea typeface="Times New Roman" panose="02020603050405020304" pitchFamily="18" charset="0"/>
                          <a:cs typeface="Times New Roman" panose="02020603050405020304" pitchFamily="18" charset="0"/>
                        </a:rPr>
                        <a:t>SVM (Predicted Effort)</a:t>
                      </a:r>
                      <a:endParaRPr lang="en-IN" sz="14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pPr>
                      <a:r>
                        <a:rPr lang="en-US" sz="1400">
                          <a:effectLst/>
                          <a:latin typeface="+mn-lt"/>
                          <a:ea typeface="Times New Roman" panose="02020603050405020304" pitchFamily="18" charset="0"/>
                          <a:cs typeface="Times New Roman" panose="02020603050405020304" pitchFamily="18" charset="0"/>
                        </a:rPr>
                        <a:t>8.4</a:t>
                      </a:r>
                      <a:endParaRPr lang="en-IN" sz="14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400">
                          <a:effectLst/>
                          <a:latin typeface="+mn-lt"/>
                          <a:ea typeface="Times New Roman" panose="02020603050405020304" pitchFamily="18" charset="0"/>
                          <a:cs typeface="Times New Roman" panose="02020603050405020304" pitchFamily="18" charset="0"/>
                        </a:rPr>
                        <a:t>6.1</a:t>
                      </a:r>
                      <a:endParaRPr lang="en-IN" sz="14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400">
                          <a:effectLst/>
                          <a:latin typeface="+mn-lt"/>
                          <a:ea typeface="Times New Roman" panose="02020603050405020304" pitchFamily="18" charset="0"/>
                          <a:cs typeface="Times New Roman" panose="02020603050405020304" pitchFamily="18" charset="0"/>
                        </a:rPr>
                        <a:t>4.6</a:t>
                      </a:r>
                      <a:endParaRPr lang="en-IN" sz="14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400" dirty="0">
                          <a:effectLst/>
                          <a:latin typeface="+mn-lt"/>
                          <a:ea typeface="Times New Roman" panose="02020603050405020304" pitchFamily="18" charset="0"/>
                          <a:cs typeface="Times New Roman" panose="02020603050405020304" pitchFamily="18" charset="0"/>
                        </a:rPr>
                        <a:t>0.24</a:t>
                      </a:r>
                      <a:endParaRPr lang="en-IN" sz="1400" dirty="0">
                        <a:effectLst/>
                        <a:latin typeface="+mn-lt"/>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962429266"/>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IN"/>
          </a:p>
        </p:txBody>
      </p:sp>
      <p:sp>
        <p:nvSpPr>
          <p:cNvPr id="5" name="CustomShape 2"/>
          <p:cNvSpPr/>
          <p:nvPr/>
        </p:nvSpPr>
        <p:spPr>
          <a:xfrm>
            <a:off x="457200" y="533400"/>
            <a:ext cx="8381160" cy="455760"/>
          </a:xfrm>
          <a:prstGeom prst="rect">
            <a:avLst/>
          </a:prstGeom>
        </p:spPr>
        <p:txBody>
          <a:bodyPr lIns="90000" tIns="45000" rIns="90000" bIns="45000"/>
          <a:lstStyle/>
          <a:p>
            <a:pPr>
              <a:lnSpc>
                <a:spcPct val="100000"/>
              </a:lnSpc>
            </a:pPr>
            <a:r>
              <a:rPr lang="en-IN" sz="3200" b="1" dirty="0">
                <a:solidFill>
                  <a:srgbClr val="C00000"/>
                </a:solidFill>
                <a:latin typeface="+mj-lt"/>
              </a:rPr>
              <a:t>Conclusion</a:t>
            </a:r>
            <a:endParaRPr sz="3200" dirty="0">
              <a:solidFill>
                <a:srgbClr val="C00000"/>
              </a:solidFill>
              <a:latin typeface="+mj-lt"/>
            </a:endParaRPr>
          </a:p>
        </p:txBody>
      </p:sp>
      <p:sp>
        <p:nvSpPr>
          <p:cNvPr id="3" name="TextBox 2">
            <a:extLst>
              <a:ext uri="{FF2B5EF4-FFF2-40B4-BE49-F238E27FC236}">
                <a16:creationId xmlns:a16="http://schemas.microsoft.com/office/drawing/2014/main" id="{1B7B446F-77F7-8A06-0453-6458FEBED1B7}"/>
              </a:ext>
            </a:extLst>
          </p:cNvPr>
          <p:cNvSpPr txBox="1"/>
          <p:nvPr/>
        </p:nvSpPr>
        <p:spPr>
          <a:xfrm>
            <a:off x="457200" y="1370999"/>
            <a:ext cx="8305800" cy="4611519"/>
          </a:xfrm>
          <a:prstGeom prst="rect">
            <a:avLst/>
          </a:prstGeom>
          <a:noFill/>
        </p:spPr>
        <p:txBody>
          <a:bodyPr wrap="square">
            <a:spAutoFit/>
          </a:bodyPr>
          <a:lstStyle/>
          <a:p>
            <a:pPr algn="just">
              <a:lnSpc>
                <a:spcPct val="150000"/>
              </a:lnSpc>
            </a:pPr>
            <a:r>
              <a:rPr lang="en-US" dirty="0"/>
              <a:t> The integration of the Firefly Algorithm into software effort estimation marks a significant leap forward, enhancing accuracy and adaptability in predictions. By meticulously comparing existing methods with the Firefly Algorithm, this project demonstrates its superior performance, providing more precise and reliable estimations. This innovative approach not only refines accuracy but also aligns software development practices with the ever-changing demands of modern projects. The Firefly Algorithm's ability to navigate the complexities of software engineering positions it as a transformative tool, promising efficient and confident estimation. This project not only contributes to the field's advancement but also lays the groundwork for a future where software effort estimation is executed with unprecedented effectiveness and assurance.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stomShape 1"/>
          <p:cNvSpPr/>
          <p:nvPr/>
        </p:nvSpPr>
        <p:spPr>
          <a:xfrm>
            <a:off x="228600" y="914400"/>
            <a:ext cx="8381160" cy="75600"/>
          </a:xfrm>
          <a:prstGeom prst="rect">
            <a:avLst/>
          </a:prstGeom>
          <a:solidFill>
            <a:srgbClr val="7030A0"/>
          </a:solidFill>
          <a:ln w="25560">
            <a:solidFill>
              <a:srgbClr val="3A5F8B"/>
            </a:solidFill>
            <a:round/>
          </a:ln>
        </p:spPr>
        <p:txBody>
          <a:bodyPr/>
          <a:lstStyle/>
          <a:p>
            <a:endParaRPr lang="en-IN"/>
          </a:p>
        </p:txBody>
      </p:sp>
      <p:sp>
        <p:nvSpPr>
          <p:cNvPr id="5" name="TextBox 4"/>
          <p:cNvSpPr txBox="1"/>
          <p:nvPr/>
        </p:nvSpPr>
        <p:spPr>
          <a:xfrm>
            <a:off x="152400" y="304800"/>
            <a:ext cx="2819400" cy="1077218"/>
          </a:xfrm>
          <a:prstGeom prst="rect">
            <a:avLst/>
          </a:prstGeom>
          <a:noFill/>
        </p:spPr>
        <p:txBody>
          <a:bodyPr wrap="square" rtlCol="0">
            <a:spAutoFit/>
          </a:bodyPr>
          <a:lstStyle/>
          <a:p>
            <a:r>
              <a:rPr lang="en-IN" sz="3200" b="1" dirty="0">
                <a:solidFill>
                  <a:srgbClr val="C00000"/>
                </a:solidFill>
                <a:latin typeface="+mj-lt"/>
              </a:rPr>
              <a:t>References</a:t>
            </a:r>
            <a:endParaRPr lang="en-IN" sz="3200" dirty="0">
              <a:solidFill>
                <a:srgbClr val="C00000"/>
              </a:solidFill>
              <a:latin typeface="+mj-lt"/>
            </a:endParaRPr>
          </a:p>
          <a:p>
            <a:endParaRPr lang="en-US" sz="3200" dirty="0">
              <a:latin typeface="+mj-lt"/>
            </a:endParaRPr>
          </a:p>
        </p:txBody>
      </p:sp>
      <p:sp>
        <p:nvSpPr>
          <p:cNvPr id="4" name="TextBox 3">
            <a:extLst>
              <a:ext uri="{FF2B5EF4-FFF2-40B4-BE49-F238E27FC236}">
                <a16:creationId xmlns:a16="http://schemas.microsoft.com/office/drawing/2014/main" id="{03561164-A3DB-B809-CEBC-D8D831C810D2}"/>
              </a:ext>
            </a:extLst>
          </p:cNvPr>
          <p:cNvSpPr txBox="1"/>
          <p:nvPr/>
        </p:nvSpPr>
        <p:spPr>
          <a:xfrm>
            <a:off x="228600" y="1219200"/>
            <a:ext cx="8305800" cy="4611519"/>
          </a:xfrm>
          <a:prstGeom prst="rect">
            <a:avLst/>
          </a:prstGeom>
          <a:noFill/>
        </p:spPr>
        <p:txBody>
          <a:bodyPr wrap="square">
            <a:spAutoFit/>
          </a:bodyPr>
          <a:lstStyle/>
          <a:p>
            <a:pPr algn="just">
              <a:lnSpc>
                <a:spcPct val="150000"/>
              </a:lnSpc>
            </a:pPr>
            <a:r>
              <a:rPr lang="en-IN" dirty="0"/>
              <a:t>[1] </a:t>
            </a:r>
            <a:r>
              <a:rPr lang="en-IN" dirty="0" err="1"/>
              <a:t>Molokken</a:t>
            </a:r>
            <a:r>
              <a:rPr lang="en-IN" dirty="0"/>
              <a:t>, K. and Jorgensen, M. (2003) A Review of Software Surveys on Software Effort Estimation. 2003 International Symposium on Empirical Software Engineering, 30 September-1 October 2003, 223-230.</a:t>
            </a:r>
          </a:p>
          <a:p>
            <a:pPr algn="just">
              <a:lnSpc>
                <a:spcPct val="150000"/>
              </a:lnSpc>
            </a:pPr>
            <a:r>
              <a:rPr lang="en-IN" dirty="0"/>
              <a:t>[2] Song, Q. and Shepperd, M. (2011) Predicting Software Project Effort: A Grey Relational Analysis Based Method. Expert Systems with Applications, 38, 7302-7316. http://dx.doi.org/10.1016/j.eswa.2010.12.005 </a:t>
            </a:r>
          </a:p>
          <a:p>
            <a:pPr algn="just">
              <a:lnSpc>
                <a:spcPct val="150000"/>
              </a:lnSpc>
            </a:pPr>
            <a:r>
              <a:rPr lang="en-IN" dirty="0"/>
              <a:t>[3] </a:t>
            </a:r>
            <a:r>
              <a:rPr lang="en-IN" dirty="0" err="1"/>
              <a:t>Khatibi</a:t>
            </a:r>
            <a:r>
              <a:rPr lang="en-IN" dirty="0"/>
              <a:t>, V. and </a:t>
            </a:r>
            <a:r>
              <a:rPr lang="en-IN" dirty="0" err="1"/>
              <a:t>Jawawi</a:t>
            </a:r>
            <a:r>
              <a:rPr lang="en-IN" dirty="0"/>
              <a:t>, D.N. (2011) Software Cost Estimation Methods: A Review. Journal of Emerging Trends in Modeling: A Systematic Review. Expert Systems with Applications, 38, 11984-11997.http://dx.doi.org/10.1016/j.eswa.2011.03.041</a:t>
            </a:r>
          </a:p>
          <a:p>
            <a:pPr algn="just">
              <a:lnSpc>
                <a:spcPct val="150000"/>
              </a:lnSpc>
            </a:pPr>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371600" y="3048000"/>
            <a:ext cx="6771598" cy="1569660"/>
          </a:xfrm>
          <a:prstGeom prst="rect">
            <a:avLst/>
          </a:prstGeom>
          <a:noFill/>
        </p:spPr>
        <p:txBody>
          <a:bodyPr wrap="none" lIns="91440" tIns="45720" rIns="91440" bIns="45720">
            <a:spAutoFit/>
          </a:bodyPr>
          <a:lstStyle/>
          <a:p>
            <a:pPr algn="ctr"/>
            <a:r>
              <a:rPr lang="en-US" sz="9600" b="1" cap="none" spc="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10711</TotalTime>
  <Words>1137</Words>
  <Application>Microsoft Office PowerPoint</Application>
  <PresentationFormat>On-screen Show (4:3)</PresentationFormat>
  <Paragraphs>146</Paragraphs>
  <Slides>19</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Arial Black</vt:lpstr>
      <vt:lpstr>Bookman Old Style</vt:lpstr>
      <vt:lpstr>Calibri</vt:lpstr>
      <vt:lpstr>StarSymbol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Hareen</dc:creator>
  <cp:lastModifiedBy>kethavath suresh</cp:lastModifiedBy>
  <cp:revision>735</cp:revision>
  <dcterms:modified xsi:type="dcterms:W3CDTF">2023-11-01T08:17:11Z</dcterms:modified>
</cp:coreProperties>
</file>